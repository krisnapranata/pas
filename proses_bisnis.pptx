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20116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15600" cy="9601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ALUR PROSES BISNIS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95728"/>
            <a:ext cx="10515600" cy="5486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2600" b="0">
                <a:solidFill>
                  <a:srgbClr val="C6C6C6"/>
                </a:solidFill>
                <a:latin typeface="Calibri"/>
              </a:rPr>
              <a:t>PAS Bandara — Passenger Assistance Service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18688"/>
            <a:ext cx="2377440" cy="5486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93008"/>
            <a:ext cx="10515600" cy="14630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Pengajuan (tanpa login)  →  Pembayaran &amp; Verifikasi  →  Penerbitan PAS Visitor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→  Nomor PAS &amp; Serah Terima Fisik (AOCH)  →  Pengembalian PAS  →  Selesai</a:t>
            </a:r>
          </a:p>
          <a:p>
            <a:pPr algn="l"/>
            <a:r>
              <a:rPr sz="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C6C6C6"/>
                </a:solidFill>
                <a:latin typeface="Calibri"/>
              </a:rPr>
              <a:t>Diselaraskan dengan implementasi kode aplikasi (status, aturan, dan pembagian peran aktual)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97296"/>
            <a:ext cx="10515600" cy="45720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150" b="0">
                <a:solidFill>
                  <a:srgbClr val="C6C6C6"/>
                </a:solidFill>
                <a:latin typeface="Calibri"/>
              </a:rPr>
              <a:t>Aktor: Pemohon (PIC)  •  Komersil  •  Operasi  •  AOCH  •  Avsec  •  Administrator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83112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PROSES BISNIS — KONTEKS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1183112" cy="5029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2200" b="1">
                <a:solidFill>
                  <a:srgbClr val="161616"/>
                </a:solidFill>
                <a:latin typeface="Calibri"/>
              </a:rPr>
              <a:t>Aktor &amp; Peran dalam Alur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8288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525252"/>
                </a:solidFill>
                <a:latin typeface="Calibri"/>
              </a:rPr>
              <a:t>Alur Proses Bisnis PAS Bandara — diselaraskan dengan implementasi kode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r"/>
            <a:r>
              <a:rPr sz="900" b="0">
                <a:solidFill>
                  <a:srgbClr val="525252"/>
                </a:solidFill>
                <a:latin typeface="Calibri"/>
              </a:rPr>
              <a:t>2</a:t>
            </a:r>
          </a:p>
        </p:txBody>
      </p:sp>
      <p:sp>
        <p:nvSpPr>
          <p:cNvPr id="8" name="Chevron 7"/>
          <p:cNvSpPr/>
          <p:nvPr/>
        </p:nvSpPr>
        <p:spPr>
          <a:xfrm>
            <a:off x="502920" y="1499616"/>
            <a:ext cx="274320" cy="475488"/>
          </a:xfrm>
          <a:prstGeom prst="chevron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371600"/>
            <a:ext cx="2286000" cy="731520"/>
          </a:xfrm>
          <a:prstGeom prst="roundRect">
            <a:avLst>
              <a:gd name="adj" fmla="val 9000"/>
            </a:avLst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PEMOHON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836676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050" b="0">
                <a:solidFill>
                  <a:srgbClr val="161616"/>
                </a:solidFill>
                <a:latin typeface="Calibri"/>
              </a:rPr>
              <a:t>Mengajukan lewat form publik tanpa harus login: mengisi PIC penanggung jawab, memilih layanan, mengisi data pendamping beserta dokumen identitas, lalu membayar dan mengunggah bukti bayar. Lacik status tanpa akun memakai nomor request, NIK, NPWP, atau nomor HP.</a:t>
            </a:r>
          </a:p>
        </p:txBody>
      </p:sp>
      <p:sp>
        <p:nvSpPr>
          <p:cNvPr id="11" name="Chevron 10"/>
          <p:cNvSpPr/>
          <p:nvPr/>
        </p:nvSpPr>
        <p:spPr>
          <a:xfrm>
            <a:off x="502920" y="2304288"/>
            <a:ext cx="274320" cy="475488"/>
          </a:xfrm>
          <a:prstGeom prst="chevron">
            <a:avLst/>
          </a:prstGeom>
          <a:solidFill>
            <a:srgbClr val="24A1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176272"/>
            <a:ext cx="2286000" cy="731520"/>
          </a:xfrm>
          <a:prstGeom prst="roundRect">
            <a:avLst>
              <a:gd name="adj" fmla="val 9000"/>
            </a:avLst>
          </a:prstGeom>
          <a:solidFill>
            <a:srgbClr val="24A1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KOMERSIL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176272"/>
            <a:ext cx="836676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050" b="0">
                <a:solidFill>
                  <a:srgbClr val="161616"/>
                </a:solidFill>
                <a:latin typeface="Calibri"/>
              </a:rPr>
              <a:t>Mengelola master layanan &amp; tarif; memvalidasi bukti pembayaran dengan tiga keputusan (Valid / Lunas, Tidak Valid, Koreksi); meneruskan pengajuan yang lunas ke Operasi.</a:t>
            </a:r>
          </a:p>
        </p:txBody>
      </p:sp>
      <p:sp>
        <p:nvSpPr>
          <p:cNvPr id="14" name="Chevron 13"/>
          <p:cNvSpPr/>
          <p:nvPr/>
        </p:nvSpPr>
        <p:spPr>
          <a:xfrm>
            <a:off x="502920" y="3108960"/>
            <a:ext cx="274320" cy="475488"/>
          </a:xfrm>
          <a:prstGeom prst="chevron">
            <a:avLst/>
          </a:prstGeom>
          <a:solidFill>
            <a:srgbClr val="8A3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2980944"/>
            <a:ext cx="2286000" cy="731520"/>
          </a:xfrm>
          <a:prstGeom prst="roundRect">
            <a:avLst>
              <a:gd name="adj" fmla="val 9000"/>
            </a:avLst>
          </a:prstGeom>
          <a:solidFill>
            <a:srgbClr val="8A3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OPERASI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980944"/>
            <a:ext cx="836676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050" b="0">
                <a:solidFill>
                  <a:srgbClr val="161616"/>
                </a:solidFill>
                <a:latin typeface="Calibri"/>
              </a:rPr>
              <a:t>Mengelola daftar hitam (blacklist) NIK &amp; nama perusahaan; mengecek ulang seluruh NIK sebelum menerbitkan PAS Visitor; menerbitkan PAS; menandai pelaksanaan &amp; penyelesaian.</a:t>
            </a:r>
          </a:p>
        </p:txBody>
      </p:sp>
      <p:sp>
        <p:nvSpPr>
          <p:cNvPr id="17" name="Chevron 16"/>
          <p:cNvSpPr/>
          <p:nvPr/>
        </p:nvSpPr>
        <p:spPr>
          <a:xfrm>
            <a:off x="502920" y="3913631"/>
            <a:ext cx="274320" cy="475488"/>
          </a:xfrm>
          <a:prstGeom prst="chevron">
            <a:avLst/>
          </a:prstGeom>
          <a:solidFill>
            <a:srgbClr val="009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785615"/>
            <a:ext cx="2286000" cy="731520"/>
          </a:xfrm>
          <a:prstGeom prst="roundRect">
            <a:avLst>
              <a:gd name="adj" fmla="val 9000"/>
            </a:avLst>
          </a:prstGeom>
          <a:solidFill>
            <a:srgbClr val="009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AOCH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3785615"/>
            <a:ext cx="836676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050" b="0">
                <a:solidFill>
                  <a:srgbClr val="161616"/>
                </a:solidFill>
                <a:latin typeface="Calibri"/>
              </a:rPr>
              <a:t>Memasukkan nomor PAS Visitor per pendamping; mencatat SERAH TERIMA fisik PAS berupa foto orang penerima + tanda tangan elektronik + tanggal &amp; jam; mencatat pengembalian; menandai pengajuan selesai setelah kartu dikembalikan.</a:t>
            </a:r>
          </a:p>
        </p:txBody>
      </p:sp>
      <p:sp>
        <p:nvSpPr>
          <p:cNvPr id="20" name="Chevron 19"/>
          <p:cNvSpPr/>
          <p:nvPr/>
        </p:nvSpPr>
        <p:spPr>
          <a:xfrm>
            <a:off x="502920" y="4718303"/>
            <a:ext cx="274320" cy="475488"/>
          </a:xfrm>
          <a:prstGeom prst="chevron">
            <a:avLst/>
          </a:prstGeom>
          <a:solidFill>
            <a:srgbClr val="D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680" y="4590288"/>
            <a:ext cx="2286000" cy="731520"/>
          </a:xfrm>
          <a:prstGeom prst="roundRect">
            <a:avLst>
              <a:gd name="adj" fmla="val 9000"/>
            </a:avLst>
          </a:prstGeom>
          <a:solidFill>
            <a:srgbClr val="D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AVSEC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4590288"/>
            <a:ext cx="836676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050" b="0">
                <a:solidFill>
                  <a:srgbClr val="161616"/>
                </a:solidFill>
                <a:latin typeface="Calibri"/>
              </a:rPr>
              <a:t>Hanya memverifikasi dan membaca: dashboard ringkasan PAS (aktif / kedaluwarsa) serta menu Verifikasi PAS. Tidak mengubah status pengajuan dan tidak mencatat serah terima.</a:t>
            </a:r>
          </a:p>
        </p:txBody>
      </p:sp>
      <p:sp>
        <p:nvSpPr>
          <p:cNvPr id="23" name="Chevron 22"/>
          <p:cNvSpPr/>
          <p:nvPr/>
        </p:nvSpPr>
        <p:spPr>
          <a:xfrm>
            <a:off x="502920" y="5522976"/>
            <a:ext cx="274320" cy="475488"/>
          </a:xfrm>
          <a:prstGeom prst="chevron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5394960"/>
            <a:ext cx="2286000" cy="731520"/>
          </a:xfrm>
          <a:prstGeom prst="roundRect">
            <a:avLst>
              <a:gd name="adj" fmla="val 9000"/>
            </a:avLst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ADMINISTRATOR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5394960"/>
            <a:ext cx="836676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050" b="0">
                <a:solidFill>
                  <a:srgbClr val="161616"/>
                </a:solidFill>
                <a:latin typeface="Calibri"/>
              </a:rPr>
              <a:t>Akses penuh ke seluruh modul — is_staff melewati semua pemeriksaan peran — ditambah Statistik, Laporan, ekspor CSV, dan Django admin.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83112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ALUR UTAMA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1183112" cy="5029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2200" b="1">
                <a:solidFill>
                  <a:srgbClr val="161616"/>
                </a:solidFill>
                <a:latin typeface="Calibri"/>
              </a:rPr>
              <a:t>Ringkasan Alur: Pengajuan → Pembayaran → PAS → Serah Terima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8288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525252"/>
                </a:solidFill>
                <a:latin typeface="Calibri"/>
              </a:rPr>
              <a:t>Alur Proses Bisnis PAS Bandara — diselaraskan dengan implementasi kode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r"/>
            <a:r>
              <a:rPr sz="900" b="0">
                <a:solidFill>
                  <a:srgbClr val="525252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1133856"/>
            <a:ext cx="256032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PENGAJUAN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13385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PEMBAYARAN &amp; VERIFIKASI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0920" y="1133856"/>
            <a:ext cx="196596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PENERBITAN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5480" y="1133856"/>
            <a:ext cx="210312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SERAH TERIMA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463040"/>
            <a:ext cx="1417320" cy="658368"/>
          </a:xfrm>
          <a:prstGeom prst="roundRect">
            <a:avLst>
              <a:gd name="adj" fmla="val 9000"/>
            </a:avLst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PEMOHON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1463040"/>
            <a:ext cx="9738360" cy="658368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057400" y="1527048"/>
            <a:ext cx="2560320" cy="530352"/>
          </a:xfrm>
          <a:prstGeom prst="roundRect">
            <a:avLst>
              <a:gd name="adj" fmla="val 9000"/>
            </a:avLst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Buka Form Pengajuan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Calibri"/>
              </a:rPr>
              <a:t>publik — tanpa login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527048"/>
            <a:ext cx="2286000" cy="530352"/>
          </a:xfrm>
          <a:prstGeom prst="roundRect">
            <a:avLst>
              <a:gd name="adj" fmla="val 9000"/>
            </a:avLst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Bayar &amp; Unggah Bukti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Calibri"/>
              </a:rPr>
              <a:t>transfer manual / tunai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72583" y="1682496"/>
            <a:ext cx="164592" cy="219456"/>
          </a:xfrm>
          <a:prstGeom prst="right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2377440"/>
            <a:ext cx="1417320" cy="658368"/>
          </a:xfrm>
          <a:prstGeom prst="roundRect">
            <a:avLst>
              <a:gd name="adj" fmla="val 9000"/>
            </a:avLst>
          </a:prstGeom>
          <a:solidFill>
            <a:srgbClr val="24A1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KOMERSIL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65960" y="2377440"/>
            <a:ext cx="9738360" cy="658368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46320" y="2441448"/>
            <a:ext cx="2286000" cy="530352"/>
          </a:xfrm>
          <a:prstGeom prst="roundRect">
            <a:avLst>
              <a:gd name="adj" fmla="val 9000"/>
            </a:avLst>
          </a:prstGeom>
          <a:solidFill>
            <a:srgbClr val="24A1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Validasi Bukti Bayar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Calibri"/>
              </a:rPr>
              <a:t>Valid / Tidak Valid / Koreksi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2261" y="3035808"/>
            <a:ext cx="20116" cy="160019"/>
          </a:xfrm>
          <a:prstGeom prst="rect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89320" y="3185769"/>
            <a:ext cx="1143000" cy="20116"/>
          </a:xfrm>
          <a:prstGeom prst="rect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79261" y="3195828"/>
            <a:ext cx="20116" cy="59435"/>
          </a:xfrm>
          <a:prstGeom prst="rect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10800000">
            <a:off x="5920740" y="3236976"/>
            <a:ext cx="137160" cy="118872"/>
          </a:xfrm>
          <a:prstGeom prst="triangle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3291840"/>
            <a:ext cx="1417320" cy="658368"/>
          </a:xfrm>
          <a:prstGeom prst="roundRect">
            <a:avLst>
              <a:gd name="adj" fmla="val 9000"/>
            </a:avLst>
          </a:prstGeom>
          <a:solidFill>
            <a:srgbClr val="8A3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OPERASI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65960" y="3291840"/>
            <a:ext cx="9738360" cy="658368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60920" y="3355848"/>
            <a:ext cx="1965960" cy="530352"/>
          </a:xfrm>
          <a:prstGeom prst="roundRect">
            <a:avLst>
              <a:gd name="adj" fmla="val 9000"/>
            </a:avLst>
          </a:prstGeom>
          <a:solidFill>
            <a:srgbClr val="8A3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Terbitkan PAS Visitor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Calibri"/>
              </a:rPr>
              <a:t>cek ulang blacklist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16821" y="3950208"/>
            <a:ext cx="20116" cy="160019"/>
          </a:xfrm>
          <a:prstGeom prst="rect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43900" y="4100169"/>
            <a:ext cx="982980" cy="20116"/>
          </a:xfrm>
          <a:prstGeom prst="rect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33841" y="4110228"/>
            <a:ext cx="20116" cy="59435"/>
          </a:xfrm>
          <a:prstGeom prst="rect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 rot="10800000">
            <a:off x="8275320" y="4151376"/>
            <a:ext cx="137160" cy="118872"/>
          </a:xfrm>
          <a:prstGeom prst="triangle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4206240"/>
            <a:ext cx="1417320" cy="658368"/>
          </a:xfrm>
          <a:prstGeom prst="roundRect">
            <a:avLst>
              <a:gd name="adj" fmla="val 9000"/>
            </a:avLst>
          </a:prstGeom>
          <a:solidFill>
            <a:srgbClr val="009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AOCH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65960" y="4206240"/>
            <a:ext cx="9738360" cy="658368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360920" y="4270248"/>
            <a:ext cx="1965960" cy="530352"/>
          </a:xfrm>
          <a:prstGeom prst="roundRect">
            <a:avLst>
              <a:gd name="adj" fmla="val 9000"/>
            </a:avLst>
          </a:prstGeom>
          <a:solidFill>
            <a:srgbClr val="009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Nomor PAS per pendamping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Calibri"/>
              </a:rPr>
              <a:t>1 nomor = 1 pendamping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55480" y="4270248"/>
            <a:ext cx="2103120" cy="530352"/>
          </a:xfrm>
          <a:prstGeom prst="roundRect">
            <a:avLst>
              <a:gd name="adj" fmla="val 9000"/>
            </a:avLst>
          </a:prstGeom>
          <a:solidFill>
            <a:srgbClr val="009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Serah Terima → Kembalikan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Calibri"/>
              </a:rPr>
              <a:t>foto + TTD + tanggal &amp; jam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381744" y="4425696"/>
            <a:ext cx="164592" cy="219456"/>
          </a:xfrm>
          <a:prstGeom prst="right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5120640"/>
            <a:ext cx="1417320" cy="658368"/>
          </a:xfrm>
          <a:prstGeom prst="roundRect">
            <a:avLst>
              <a:gd name="adj" fmla="val 9000"/>
            </a:avLst>
          </a:prstGeom>
          <a:solidFill>
            <a:srgbClr val="D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AVSEC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65960" y="5120640"/>
            <a:ext cx="9738360" cy="658368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555480" y="5184648"/>
            <a:ext cx="2103120" cy="530352"/>
          </a:xfrm>
          <a:prstGeom prst="roundRect">
            <a:avLst>
              <a:gd name="adj" fmla="val 9000"/>
            </a:avLst>
          </a:prstGeom>
          <a:solidFill>
            <a:srgbClr val="D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Cek Status PAS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Calibri"/>
              </a:rPr>
              <a:t>aktif / kedaluwarsa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55480" y="5870448"/>
            <a:ext cx="2148840" cy="5029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C757D"/>
                </a:solidFill>
                <a:latin typeface="Calibri"/>
              </a:rPr>
              <a:t>Verifikasi Avsec adalah pengecekan silang, bukan tahap alur — dapat dilakukan kapan saja.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83112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FASE 1 — PENGAJUAN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1183112" cy="5029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2200" b="1">
                <a:solidFill>
                  <a:srgbClr val="161616"/>
                </a:solidFill>
                <a:latin typeface="Calibri"/>
              </a:rPr>
              <a:t>Pemohon: Batasan Area, Form Publik &amp; Pengecekan Daftar Hitam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8288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525252"/>
                </a:solidFill>
                <a:latin typeface="Calibri"/>
              </a:rPr>
              <a:t>Alur Proses Bisnis PAS Bandara — diselaraskan dengan implementasi kode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r"/>
            <a:r>
              <a:rPr sz="900" b="0">
                <a:solidFill>
                  <a:srgbClr val="525252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335024"/>
            <a:ext cx="3154680" cy="713232"/>
          </a:xfrm>
          <a:prstGeom prst="roundRect">
            <a:avLst>
              <a:gd name="adj" fmla="val 9000"/>
            </a:avLst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Halaman Batasan Area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wajib tampil sebelum form</a:t>
            </a:r>
          </a:p>
        </p:txBody>
      </p:sp>
      <p:sp>
        <p:nvSpPr>
          <p:cNvPr id="9" name="Down Arrow 8"/>
          <p:cNvSpPr/>
          <p:nvPr/>
        </p:nvSpPr>
        <p:spPr>
          <a:xfrm>
            <a:off x="2295144" y="2066543"/>
            <a:ext cx="219456" cy="256032"/>
          </a:xfrm>
          <a:prstGeom prst="down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322576"/>
            <a:ext cx="3154680" cy="713232"/>
          </a:xfrm>
          <a:prstGeom prst="roundRect">
            <a:avLst>
              <a:gd name="adj" fmla="val 9000"/>
            </a:avLst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Form Pengajuan Publik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tanpa login, tanpa daftar akun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295144" y="3054096"/>
            <a:ext cx="219456" cy="256032"/>
          </a:xfrm>
          <a:prstGeom prst="down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310128"/>
            <a:ext cx="3154680" cy="713232"/>
          </a:xfrm>
          <a:prstGeom prst="roundRect">
            <a:avLst>
              <a:gd name="adj" fmla="val 9000"/>
            </a:avLst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Isi Data Pengajuan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PIC + layanan + pendamping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295144" y="4041648"/>
            <a:ext cx="219456" cy="256032"/>
          </a:xfrm>
          <a:prstGeom prst="down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4297680"/>
            <a:ext cx="3154680" cy="713232"/>
          </a:xfrm>
          <a:prstGeom prst="roundRect">
            <a:avLst>
              <a:gd name="adj" fmla="val 9000"/>
            </a:avLst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Kirim Pengajuan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sistem cek NIK PIC &amp; pendamping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295144" y="5029200"/>
            <a:ext cx="219456" cy="256032"/>
          </a:xfrm>
          <a:prstGeom prst="down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5285232"/>
            <a:ext cx="3154680" cy="713232"/>
          </a:xfrm>
          <a:prstGeom prst="roundRect">
            <a:avLst>
              <a:gd name="adj" fmla="val 9000"/>
            </a:avLst>
          </a:prstGeom>
          <a:solidFill>
            <a:srgbClr val="24A1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Lolos → Invoice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status MENUNGGU_PEMBAYARAN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1335024"/>
            <a:ext cx="7360920" cy="1517904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7992" y="1444752"/>
            <a:ext cx="7031736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161616"/>
                </a:solidFill>
                <a:latin typeface="Calibri"/>
              </a:rPr>
              <a:t>Batasan area — 2 tahap, wajib dibaca pemohon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1773936"/>
            <a:ext cx="7031736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Tahap 1 (wajib, tiap kunjungan baru): </a:t>
            </a:r>
            <a:r>
              <a:rPr sz="900" b="0">
                <a:solidFill>
                  <a:srgbClr val="525252"/>
                </a:solidFill>
                <a:latin typeface="Calibri"/>
              </a:rPr>
              <a:t>halaman batasan area tampil lebih dulu; pemohon menekan tombol lanjut baru form pengajuan terbuka (pas/views.py:363-369).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DEPARTURE: </a:t>
            </a:r>
            <a:r>
              <a:rPr sz="900" b="0">
                <a:solidFill>
                  <a:srgbClr val="525252"/>
                </a:solidFill>
                <a:latin typeface="Calibri"/>
              </a:rPr>
              <a:t>Check-in Counter (domestik &amp; internasional), Security Check (Avsec), Boarding Lounge.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ARRIVAL: </a:t>
            </a:r>
            <a:r>
              <a:rPr sz="900" b="0">
                <a:solidFill>
                  <a:srgbClr val="525252"/>
                </a:solidFill>
                <a:latin typeface="Calibri"/>
              </a:rPr>
              <a:t>Baggage Claim, Arrival Hall sampai Meeting Point.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5 aturan yang ditampilkan: </a:t>
            </a:r>
            <a:r>
              <a:rPr sz="900" b="0">
                <a:solidFill>
                  <a:srgbClr val="525252"/>
                </a:solidFill>
                <a:latin typeface="Calibri"/>
              </a:rPr>
              <a:t>sekali pakai &amp; wajib dikembalikan ke AOCH; diambil di AOCH On Duty (Solution Room); tidak boleh dipinjam/dialihkan dipakai esok hari; setiap pendamping wajib NIK + dokumen identitas; NIK daftar hitam ditolak saat kirim.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43400" y="2999232"/>
            <a:ext cx="7360920" cy="1700784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7992" y="3108960"/>
            <a:ext cx="7031736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161616"/>
                </a:solidFill>
                <a:latin typeface="Calibri"/>
              </a:rPr>
              <a:t>Isi form pengajuan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992" y="3438144"/>
            <a:ext cx="7031736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PIC penanggung jawab: </a:t>
            </a:r>
            <a:r>
              <a:rPr sz="900" b="0">
                <a:solidFill>
                  <a:srgbClr val="525252"/>
                </a:solidFill>
                <a:latin typeface="Calibri"/>
              </a:rPr>
              <a:t>nama, NIK, NPWP, no HP wajib; e-mail opsional. Tidak ada lagi input tujuan/instansi terpisah.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Layanan: </a:t>
            </a:r>
            <a:r>
              <a:rPr sz="900" b="0">
                <a:solidFill>
                  <a:srgbClr val="525252"/>
                </a:solidFill>
                <a:latin typeface="Calibri"/>
              </a:rPr>
              <a:t>radio button yang menampilkan nama + harga, dikelompokkan Departure / Arrival. Tanggal pelaksanaan tidak boleh di masa lalu (min = hari ini).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Pendamping: </a:t>
            </a:r>
            <a:r>
              <a:rPr sz="900" b="0">
                <a:solidFill>
                  <a:srgbClr val="525252"/>
                </a:solidFill>
                <a:latin typeface="Calibri"/>
              </a:rPr>
              <a:t>jumlah mengikuti batas layanan (min 1, maks 5 atau 10). Setiap pendamping: nama, NIK, dan unggah identitas (jpg, jpeg, png, gif, webp, atau pdf).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Tarif: </a:t>
            </a:r>
            <a:r>
              <a:rPr sz="900" b="0">
                <a:solidFill>
                  <a:srgbClr val="525252"/>
                </a:solidFill>
                <a:latin typeface="Calibri"/>
              </a:rPr>
              <a:t>disalin sebagai snapshot ke pengajuan saat dibuat — perubahan tarif berikutnya tidak mengubah pengajuan yang sudah ada.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4846320"/>
            <a:ext cx="7360920" cy="1536192"/>
          </a:xfrm>
          <a:prstGeom prst="rect">
            <a:avLst/>
          </a:prstGeom>
          <a:solidFill>
            <a:srgbClr val="FFF2F3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7992" y="4956048"/>
            <a:ext cx="7031736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DA1E28"/>
                </a:solidFill>
                <a:latin typeface="Calibri"/>
              </a:rPr>
              <a:t>Pengecekan daftar hitam saat kirim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5285231"/>
            <a:ext cx="7031736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Dicocokkan pada data POST mentah </a:t>
            </a:r>
            <a:r>
              <a:rPr sz="900" b="0">
                <a:solidFill>
                  <a:srgbClr val="525252"/>
                </a:solidFill>
                <a:latin typeface="Calibri"/>
              </a:rPr>
              <a:t>agar NIK yang kena tetap terdeteksi walau berkas identitas belum lengkap. NIK dinormalisasi (buang spasi/titik/garis); nama dibandingkan case-insensitive.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Jika ada yang kena: </a:t>
            </a:r>
            <a:r>
              <a:rPr sz="900" b="0">
                <a:solidFill>
                  <a:srgbClr val="525252"/>
                </a:solidFill>
                <a:latin typeface="Calibri"/>
              </a:rPr>
              <a:t>pengajuan TIDAK PERNAH DIBUAT — form dikembalikan dengan kolom yang bermerah, berkas identitas yang sudah diunggah tetap tersimpan, dan audit log TOLAK_BLACKLIST_NIK tercatat. Tidak ada invoice dan tidak ada tagihan.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83112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FASE 2 — PEMBAYARAN &amp; VERIFIKASI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1183112" cy="5029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2200" b="1">
                <a:solidFill>
                  <a:srgbClr val="161616"/>
                </a:solidFill>
                <a:latin typeface="Calibri"/>
              </a:rPr>
              <a:t>Pemohon Bayar → Komersil Validasi Bukti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8288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525252"/>
                </a:solidFill>
                <a:latin typeface="Calibri"/>
              </a:rPr>
              <a:t>Alur Proses Bisnis PAS Bandara — diselaraskan dengan implementasi kode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r"/>
            <a:r>
              <a:rPr sz="900" b="0">
                <a:solidFill>
                  <a:srgbClr val="525252"/>
                </a:solidFill>
                <a:latin typeface="Calibr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335024"/>
            <a:ext cx="3154680" cy="713232"/>
          </a:xfrm>
          <a:prstGeom prst="roundRect">
            <a:avLst>
              <a:gd name="adj" fmla="val 9000"/>
            </a:avLst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Pilih Metode Bayar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QRIS, Virtual Account, E-Wallet, Transfer Manual, Tunai</a:t>
            </a:r>
          </a:p>
        </p:txBody>
      </p:sp>
      <p:sp>
        <p:nvSpPr>
          <p:cNvPr id="9" name="Down Arrow 8"/>
          <p:cNvSpPr/>
          <p:nvPr/>
        </p:nvSpPr>
        <p:spPr>
          <a:xfrm>
            <a:off x="2295144" y="2066543"/>
            <a:ext cx="219456" cy="256032"/>
          </a:xfrm>
          <a:prstGeom prst="down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322576"/>
            <a:ext cx="3154680" cy="713232"/>
          </a:xfrm>
          <a:prstGeom prst="roundRect">
            <a:avLst>
              <a:gd name="adj" fmla="val 9000"/>
            </a:avLst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Unggah Bukti Bayar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status BUKTI_TERUNGGAH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295144" y="3054096"/>
            <a:ext cx="219456" cy="256032"/>
          </a:xfrm>
          <a:prstGeom prst="down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310128"/>
            <a:ext cx="3154680" cy="713232"/>
          </a:xfrm>
          <a:prstGeom prst="roundRect">
            <a:avLst>
              <a:gd name="adj" fmla="val 9000"/>
            </a:avLst>
          </a:prstGeom>
          <a:solidFill>
            <a:srgbClr val="24A1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Komersil Validasi Bukti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tiga keputusan tersedia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335024"/>
            <a:ext cx="7360920" cy="1481328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44752"/>
            <a:ext cx="7031736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161616"/>
                </a:solidFill>
                <a:latin typeface="Calibri"/>
              </a:rPr>
              <a:t>Tiga keputusan validasi Komersil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773936"/>
            <a:ext cx="7031736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Valid / Lunas: </a:t>
            </a:r>
            <a:r>
              <a:rPr sz="900" b="0">
                <a:solidFill>
                  <a:srgbClr val="525252"/>
                </a:solidFill>
                <a:latin typeface="Calibri"/>
              </a:rPr>
              <a:t>transaksi PAID, invoice PAID, pengajuan langsung menjadi MENUNGGU_OPERASI. Tidak lewat status DIBAYAR.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Tidak Valid: </a:t>
            </a:r>
            <a:r>
              <a:rPr sz="900" b="0">
                <a:solidFill>
                  <a:srgbClr val="525252"/>
                </a:solidFill>
                <a:latin typeface="Calibri"/>
              </a:rPr>
              <a:t>transaksi FAILED dan pengajuan kembali ke MENUNGGU_PEMBAYARAN; pemohon diberi notifikasi untuk mengunggah bukti yang benar.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Koreksi (bukan lunas): </a:t>
            </a:r>
            <a:r>
              <a:rPr sz="900" b="0">
                <a:solidFill>
                  <a:srgbClr val="525252"/>
                </a:solidFill>
                <a:latin typeface="Calibri"/>
              </a:rPr>
              <a:t>validasi dibatalkan — transaksi kembali PENDING, paid_at dikosongkan, invoice UNPAID, pengajuan kembali BUKTI_TERUNGGAH dan wajib divalidasi ulang.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343400" y="2962656"/>
          <a:ext cx="7360920" cy="1280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920240"/>
                <a:gridCol w="1371600"/>
                <a:gridCol w="2377440"/>
              </a:tblGrid>
              <a:tr h="29260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KEPUTUSAN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PAYMENTTRANSACTION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INVOICE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PENGAJUAN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329184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24A148"/>
                          </a:solidFill>
                          <a:latin typeface="Calibri"/>
                        </a:rPr>
                        <a:t>Valid / Lunas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24A148"/>
                          </a:solidFill>
                          <a:latin typeface="Calibri"/>
                        </a:rPr>
                        <a:t>→ MENUNGGU OPERASI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DA1E28"/>
                          </a:solidFill>
                          <a:latin typeface="Calibri"/>
                        </a:rPr>
                        <a:t>Tidak Valid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tidak berubah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DA1E28"/>
                          </a:solidFill>
                          <a:latin typeface="Calibri"/>
                        </a:rPr>
                        <a:t>→ MENUNGGU PEMBAYARAN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29184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8A3FFC"/>
                          </a:solidFill>
                          <a:latin typeface="Calibri"/>
                        </a:rPr>
                        <a:t>Koreksi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UNPAID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8A3FFC"/>
                          </a:solidFill>
                          <a:latin typeface="Calibri"/>
                        </a:rPr>
                        <a:t>→ BUKTI TERUNGGAH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4343400" y="4443984"/>
            <a:ext cx="7360920" cy="1938528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7992" y="4553712"/>
            <a:ext cx="7031736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161616"/>
                </a:solidFill>
                <a:latin typeface="Calibri"/>
              </a:rPr>
              <a:t>Catatan penting tentang pembayaran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4882896"/>
            <a:ext cx="7031736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Status DIBAYAR hanya diisi oleh webhook penyedia </a:t>
            </a:r>
            <a:r>
              <a:rPr sz="900" b="0">
                <a:solidFill>
                  <a:srgbClr val="525252"/>
                </a:solidFill>
                <a:latin typeface="Calibri"/>
              </a:rPr>
              <a:t>(callback pembayaran otomatis), bukan oleh validasi manual Komersil. Tombol “Lanjut ke Operasi” milik Komersil karena itu hanya berfungsi pada deployment yang memakai webhook.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Invoice: </a:t>
            </a:r>
            <a:r>
              <a:rPr sz="900" b="0">
                <a:solidFill>
                  <a:srgbClr val="525252"/>
                </a:solidFill>
                <a:latin typeface="Calibri"/>
              </a:rPr>
              <a:t>dibuat otomatis saat pengajuan lolos cek blacklist; jatuh tempo +24 jam; nomor berpola INV-YYYY-XXXXXX.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Pemohon tanpa akun: </a:t>
            </a:r>
            <a:r>
              <a:rPr sz="900" b="0">
                <a:solidFill>
                  <a:srgbClr val="525252"/>
                </a:solidFill>
                <a:latin typeface="Calibri"/>
              </a:rPr>
              <a:t>akses pembayaran dijaga penanda session “lacak” — maksimal 20 pengajuan terakhir per browser. Cari invoice memakai nomor pengajuan + kontak (e-mail / no HP).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Belum ada UI persetujuan refund </a:t>
            </a:r>
            <a:r>
              <a:rPr sz="900" b="0">
                <a:solidFill>
                  <a:srgbClr val="525252"/>
                </a:solidFill>
                <a:latin typeface="Calibri"/>
              </a:rPr>
              <a:t>— pengajuan refund sudah tercatat tetapi belum ada halaman persetujuan.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83112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FASE 3 — PENERBITAN PAS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1183112" cy="5029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2200" b="1">
                <a:solidFill>
                  <a:srgbClr val="161616"/>
                </a:solidFill>
                <a:latin typeface="Calibri"/>
              </a:rPr>
              <a:t>Operasi: Cek Ulang Blacklist &amp; Terbitkan PAS Visitor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8288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525252"/>
                </a:solidFill>
                <a:latin typeface="Calibri"/>
              </a:rPr>
              <a:t>Alur Proses Bisnis PAS Bandara — diselaraskan dengan implementasi kode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r"/>
            <a:r>
              <a:rPr sz="900" b="0">
                <a:solidFill>
                  <a:srgbClr val="525252"/>
                </a:solidFill>
                <a:latin typeface="Calibri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335024"/>
            <a:ext cx="3017520" cy="713232"/>
          </a:xfrm>
          <a:prstGeom prst="roundRect">
            <a:avLst>
              <a:gd name="adj" fmla="val 9000"/>
            </a:avLst>
          </a:prstGeom>
          <a:solidFill>
            <a:srgbClr val="8A3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Pengajuan Masuk ke Operasi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status MENUNGGU_OPERASI</a:t>
            </a:r>
          </a:p>
        </p:txBody>
      </p:sp>
      <p:sp>
        <p:nvSpPr>
          <p:cNvPr id="9" name="Down Arrow 8"/>
          <p:cNvSpPr/>
          <p:nvPr/>
        </p:nvSpPr>
        <p:spPr>
          <a:xfrm>
            <a:off x="2221992" y="2066543"/>
            <a:ext cx="219456" cy="219456"/>
          </a:xfrm>
          <a:prstGeom prst="down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286000"/>
            <a:ext cx="3017520" cy="713232"/>
          </a:xfrm>
          <a:prstGeom prst="roundRect">
            <a:avLst>
              <a:gd name="adj" fmla="val 9000"/>
            </a:avLst>
          </a:prstGeom>
          <a:solidFill>
            <a:srgbClr val="8A3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Cek Ulang Blacklist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NIK pendamping + NIK PIC + nama/instansi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221992" y="3017520"/>
            <a:ext cx="219456" cy="219456"/>
          </a:xfrm>
          <a:prstGeom prst="down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236976"/>
            <a:ext cx="3017520" cy="713232"/>
          </a:xfrm>
          <a:prstGeom prst="roundRect">
            <a:avLst>
              <a:gd name="adj" fmla="val 9000"/>
            </a:avLst>
          </a:prstGeom>
          <a:solidFill>
            <a:srgbClr val="8A3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Terbitkan PAS Visitor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status PAS_TERBIT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221992" y="3968496"/>
            <a:ext cx="219456" cy="219456"/>
          </a:xfrm>
          <a:prstGeom prst="down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4187952"/>
            <a:ext cx="3017520" cy="713232"/>
          </a:xfrm>
          <a:prstGeom prst="roundRect">
            <a:avLst>
              <a:gd name="adj" fmla="val 9000"/>
            </a:avLst>
          </a:prstGeom>
          <a:solidFill>
            <a:srgbClr val="009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Informasi ke AOCH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notifikasi: siap diserahkan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877056" y="2587752"/>
            <a:ext cx="402336" cy="219456"/>
          </a:xfrm>
          <a:prstGeom prst="right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340864"/>
            <a:ext cx="822960" cy="21945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800" b="1">
                <a:solidFill>
                  <a:srgbClr val="DA1E28"/>
                </a:solidFill>
                <a:latin typeface="Calibri"/>
              </a:rPr>
              <a:t>tidak lolos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93792" y="2304288"/>
            <a:ext cx="2331720" cy="713232"/>
          </a:xfrm>
          <a:prstGeom prst="roundRect">
            <a:avLst>
              <a:gd name="adj" fmla="val 9000"/>
            </a:avLst>
          </a:prstGeom>
          <a:solidFill>
            <a:srgbClr val="D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Ditolak Operasi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DITOLAK_OPERASI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93792" y="3145536"/>
            <a:ext cx="2331720" cy="1517904"/>
          </a:xfrm>
          <a:prstGeom prst="rect">
            <a:avLst/>
          </a:prstGeom>
          <a:solidFill>
            <a:srgbClr val="FFF2F3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58383" y="3255264"/>
            <a:ext cx="2002536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DA1E28"/>
                </a:solidFill>
                <a:latin typeface="Calibri"/>
              </a:rPr>
              <a:t>Blacklist — 4 titik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3" y="3584448"/>
            <a:ext cx="2002536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25252"/>
                </a:solidFill>
                <a:latin typeface="Calibri"/>
              </a:rPr>
              <a:t>• </a:t>
            </a:r>
            <a:r>
              <a:rPr sz="800" b="0">
                <a:solidFill>
                  <a:srgbClr val="525252"/>
                </a:solidFill>
                <a:latin typeface="Calibri"/>
              </a:rPr>
              <a:t>Kirim form publik — dicek dari POST mentah; pengajuan tidak dibuat.</a:t>
            </a:r>
          </a:p>
          <a:p>
            <a:pPr algn="l"/>
            <a:r>
              <a:rPr sz="800" b="1">
                <a:solidFill>
                  <a:srgbClr val="525252"/>
                </a:solidFill>
                <a:latin typeface="Calibri"/>
              </a:rPr>
              <a:t>• </a:t>
            </a:r>
            <a:r>
              <a:rPr sz="800" b="0">
                <a:solidFill>
                  <a:srgbClr val="525252"/>
                </a:solidFill>
                <a:latin typeface="Calibri"/>
              </a:rPr>
              <a:t>Submit pengajuan draft — dicek dari database; pengajuan tidak dikirim.</a:t>
            </a:r>
          </a:p>
          <a:p>
            <a:pPr algn="l"/>
            <a:r>
              <a:rPr sz="800" b="1">
                <a:solidFill>
                  <a:srgbClr val="525252"/>
                </a:solidFill>
                <a:latin typeface="Calibri"/>
              </a:rPr>
              <a:t>• </a:t>
            </a:r>
            <a:r>
              <a:rPr sz="800" b="0">
                <a:solidFill>
                  <a:srgbClr val="525252"/>
                </a:solidFill>
                <a:latin typeface="Calibri"/>
              </a:rPr>
              <a:t>Halaman Operasi — peringatan; tombol Terbitkan PAS dinonaktifkan.</a:t>
            </a:r>
          </a:p>
          <a:p>
            <a:pPr algn="l"/>
            <a:r>
              <a:rPr sz="800" b="1">
                <a:solidFill>
                  <a:srgbClr val="525252"/>
                </a:solidFill>
                <a:latin typeface="Calibri"/>
              </a:rPr>
              <a:t>• </a:t>
            </a:r>
            <a:r>
              <a:rPr sz="800" b="0">
                <a:solidFill>
                  <a:srgbClr val="525252"/>
                </a:solidFill>
                <a:latin typeface="Calibri"/>
              </a:rPr>
              <a:t>Saat menerbitkan — inilah gerbang yang ditegakkan: DITOLAK_OPERASI.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1335024"/>
            <a:ext cx="3867912" cy="1700784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82712" y="1444752"/>
            <a:ext cx="3538728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161616"/>
                </a:solidFill>
                <a:latin typeface="Calibri"/>
              </a:rPr>
              <a:t>Penolakan manual Operasi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2712" y="1773936"/>
            <a:ext cx="3538728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Alasan penolakan WAJIB diisi </a:t>
            </a:r>
            <a:r>
              <a:rPr sz="900" b="0">
                <a:solidFill>
                  <a:srgbClr val="525252"/>
                </a:solidFill>
                <a:latin typeface="Calibri"/>
              </a:rPr>
              <a:t>— tanpa alasan, permintaan ditolak.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Tidak ada syarat status </a:t>
            </a:r>
            <a:r>
              <a:rPr sz="900" b="0">
                <a:solidFill>
                  <a:srgbClr val="525252"/>
                </a:solidFill>
                <a:latin typeface="Calibri"/>
              </a:rPr>
              <a:t>— Operasi dapat menolak dari status pengajuan mana pun, bukan hanya Menunggu Operasi.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Pemohon menerima notifikasi </a:t>
            </a:r>
            <a:r>
              <a:rPr sz="900" b="0">
                <a:solidFill>
                  <a:srgbClr val="525252"/>
                </a:solidFill>
                <a:latin typeface="Calibri"/>
              </a:rPr>
              <a:t>“Pengajuan ditolak Operasi” beserta alasannya, dan alasan itu tersimpan di riwayat status.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3182112"/>
            <a:ext cx="3867912" cy="1389888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82712" y="3291840"/>
            <a:ext cx="3538728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161616"/>
                </a:solidFill>
                <a:latin typeface="Calibri"/>
              </a:rPr>
              <a:t>Tanggal berlaku PAS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82712" y="3621024"/>
            <a:ext cx="3538728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tanggal_berlaku_pas disalin dari tanggal_pelaksanaan, </a:t>
            </a:r>
            <a:r>
              <a:rPr sz="900" b="0">
                <a:solidFill>
                  <a:srgbClr val="525252"/>
                </a:solidFill>
                <a:latin typeface="Calibri"/>
              </a:rPr>
              <a:t>bukan dari hari PAS diterbitkan.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PAS dapat diterbitkan dari tiga status: </a:t>
            </a:r>
            <a:r>
              <a:rPr sz="900" b="0">
                <a:solidFill>
                  <a:srgbClr val="525252"/>
                </a:solidFill>
                <a:latin typeface="Calibri"/>
              </a:rPr>
              <a:t>Menunggu Operasi, Sudah Dibayar, dan Acknowledged AOCH.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18120" y="4718304"/>
            <a:ext cx="3867912" cy="1664208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82712" y="4828032"/>
            <a:ext cx="3538728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161616"/>
                </a:solidFill>
                <a:latin typeface="Calibri"/>
              </a:rPr>
              <a:t>Setelah PAS terbit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82712" y="5157216"/>
            <a:ext cx="3538728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Status pengajuan menjadi PAS_TERBIT </a:t>
            </a:r>
            <a:r>
              <a:rPr sz="900" b="0">
                <a:solidFill>
                  <a:srgbClr val="525252"/>
                </a:solidFill>
                <a:latin typeface="Calibri"/>
              </a:rPr>
              <a:t>dan riwayat status mencatat pelaku perubahannya.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Empat pihak diberi notifikasi: </a:t>
            </a:r>
            <a:r>
              <a:rPr sz="900" b="0">
                <a:solidFill>
                  <a:srgbClr val="525252"/>
                </a:solidFill>
                <a:latin typeface="Calibri"/>
              </a:rPr>
              <a:t>AOCH (siap diserahkan), Pemohon, Komersil, dan Operasi.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AOCH baru bisa menyimpan nomor PAS </a:t>
            </a:r>
            <a:r>
              <a:rPr sz="900" b="0">
                <a:solidFill>
                  <a:srgbClr val="525252"/>
                </a:solidFill>
                <a:latin typeface="Calibri"/>
              </a:rPr>
              <a:t>pada tahap ini — sebelumnya tombolnya dinonaktifkan.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83112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FASE 4 — SERAH TERIMA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1183112" cy="5029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2200" b="1">
                <a:solidFill>
                  <a:srgbClr val="161616"/>
                </a:solidFill>
                <a:latin typeface="Calibri"/>
              </a:rPr>
              <a:t>AOCH: Nomor PAS Visitor, Penyerahan &amp; Pengembalian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8288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525252"/>
                </a:solidFill>
                <a:latin typeface="Calibri"/>
              </a:rPr>
              <a:t>Alur Proses Bisnis PAS Bandara — diselaraskan dengan implementasi kode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r"/>
            <a:r>
              <a:rPr sz="900" b="0">
                <a:solidFill>
                  <a:srgbClr val="525252"/>
                </a:solidFill>
                <a:latin typeface="Calibr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298448"/>
            <a:ext cx="3154680" cy="658368"/>
          </a:xfrm>
          <a:prstGeom prst="roundRect">
            <a:avLst>
              <a:gd name="adj" fmla="val 9000"/>
            </a:avLst>
          </a:prstGeom>
          <a:solidFill>
            <a:srgbClr val="009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Input Nomor PAS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1 nomor untuk setiap pendamping</a:t>
            </a:r>
          </a:p>
        </p:txBody>
      </p:sp>
      <p:sp>
        <p:nvSpPr>
          <p:cNvPr id="9" name="Down Arrow 8"/>
          <p:cNvSpPr/>
          <p:nvPr/>
        </p:nvSpPr>
        <p:spPr>
          <a:xfrm>
            <a:off x="2295144" y="1975104"/>
            <a:ext cx="219456" cy="237744"/>
          </a:xfrm>
          <a:prstGeom prst="down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3154680" cy="658368"/>
          </a:xfrm>
          <a:prstGeom prst="roundRect">
            <a:avLst>
              <a:gd name="adj" fmla="val 9000"/>
            </a:avLst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Tanggal Pelaksanaan Tercapai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tombol terbuka otomatis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295144" y="2889504"/>
            <a:ext cx="219456" cy="237744"/>
          </a:xfrm>
          <a:prstGeom prst="down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127248"/>
            <a:ext cx="3154680" cy="658368"/>
          </a:xfrm>
          <a:prstGeom prst="roundRect">
            <a:avLst>
              <a:gd name="adj" fmla="val 9000"/>
            </a:avLst>
          </a:prstGeom>
          <a:solidFill>
            <a:srgbClr val="009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Catat Penyerahan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foto + TTD + tanggal &amp; jam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295144" y="3803904"/>
            <a:ext cx="219456" cy="237744"/>
          </a:xfrm>
          <a:prstGeom prst="down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4041648"/>
            <a:ext cx="3154680" cy="658368"/>
          </a:xfrm>
          <a:prstGeom prst="roundRect">
            <a:avLst>
              <a:gd name="adj" fmla="val 9000"/>
            </a:avLst>
          </a:prstGeom>
          <a:solidFill>
            <a:srgbClr val="009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Catat Pengembalian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foto + TTD pengembalian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295144" y="4718304"/>
            <a:ext cx="219456" cy="237744"/>
          </a:xfrm>
          <a:prstGeom prst="down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4956048"/>
            <a:ext cx="3154680" cy="658368"/>
          </a:xfrm>
          <a:prstGeom prst="roundRect">
            <a:avLst>
              <a:gd name="adj" fmla="val 9000"/>
            </a:avLst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Tandai Selesai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pengajuan → SELESAI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298448"/>
            <a:ext cx="1965960" cy="566928"/>
          </a:xfrm>
          <a:prstGeom prst="roundRect">
            <a:avLst>
              <a:gd name="adj" fmla="val 9000"/>
            </a:avLst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BELUM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373368" y="1472184"/>
            <a:ext cx="201168" cy="219456"/>
          </a:xfrm>
          <a:prstGeom prst="right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7688" y="1298448"/>
            <a:ext cx="5056632" cy="56692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161616"/>
                </a:solidFill>
                <a:latin typeface="Calibri"/>
              </a:rPr>
              <a:t>Catat Penyerahan</a:t>
            </a:r>
            <a:r>
              <a:rPr sz="950" b="0">
                <a:solidFill>
                  <a:srgbClr val="525252"/>
                </a:solidFill>
                <a:latin typeface="Calibri"/>
              </a:rPr>
              <a:t>  —  menunggu kartu keluar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1975104"/>
            <a:ext cx="1965960" cy="566928"/>
          </a:xfrm>
          <a:prstGeom prst="roundRect">
            <a:avLst>
              <a:gd name="adj" fmla="val 9000"/>
            </a:avLst>
          </a:prstGeom>
          <a:solidFill>
            <a:srgbClr val="009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DITERIMA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373368" y="2148840"/>
            <a:ext cx="201168" cy="219456"/>
          </a:xfrm>
          <a:prstGeom prst="right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1975104"/>
            <a:ext cx="5056632" cy="56692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161616"/>
                </a:solidFill>
                <a:latin typeface="Calibri"/>
              </a:rPr>
              <a:t>Catat Pengembalian</a:t>
            </a:r>
            <a:r>
              <a:rPr sz="950" b="0">
                <a:solidFill>
                  <a:srgbClr val="525252"/>
                </a:solidFill>
                <a:latin typeface="Calibri"/>
              </a:rPr>
              <a:t>  —  kartu di luar; boleh Perbarui Penyerahan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2651760"/>
            <a:ext cx="1965960" cy="566928"/>
          </a:xfrm>
          <a:prstGeom prst="roundRect">
            <a:avLst>
              <a:gd name="adj" fmla="val 9000"/>
            </a:avLst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DIKEMBALIKAN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373368" y="2825496"/>
            <a:ext cx="201168" cy="219456"/>
          </a:xfrm>
          <a:prstGeom prst="right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7688" y="2651760"/>
            <a:ext cx="5056632" cy="56692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161616"/>
                </a:solidFill>
                <a:latin typeface="Calibri"/>
              </a:rPr>
              <a:t>Tandai Selesai</a:t>
            </a:r>
            <a:r>
              <a:rPr sz="950" b="0">
                <a:solidFill>
                  <a:srgbClr val="525252"/>
                </a:solidFill>
                <a:latin typeface="Calibri"/>
              </a:rPr>
              <a:t>  —  siklus kartu selesai; tidak ada tombol serah lagi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3346704"/>
            <a:ext cx="7360920" cy="1335024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07992" y="3456432"/>
            <a:ext cx="7031736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161616"/>
                </a:solidFill>
                <a:latin typeface="Calibri"/>
              </a:rPr>
              <a:t>Isian yang dicatat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07992" y="3785616"/>
            <a:ext cx="7031736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Penyerahan: </a:t>
            </a:r>
            <a:r>
              <a:rPr sz="900" b="0">
                <a:solidFill>
                  <a:srgbClr val="525252"/>
                </a:solidFill>
                <a:latin typeface="Calibri"/>
              </a:rPr>
              <a:t>nama penerima (wajib), NIK, jabatan, dan “ditugaskan/wakil” (opsional). Nama penerima boleh berbeda dari PIC apabila benar-benar diwakilkan.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Dokumentasi: </a:t>
            </a:r>
            <a:r>
              <a:rPr sz="900" b="0">
                <a:solidFill>
                  <a:srgbClr val="525252"/>
                </a:solidFill>
                <a:latin typeface="Calibri"/>
              </a:rPr>
              <a:t>foto orang penerima (kamera langsung atau unggah berkas) dan tanda tangan elektronik digambar di layar — keduanya wajib pada serah terima maupun pengembalian.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Waktu: </a:t>
            </a:r>
            <a:r>
              <a:rPr sz="900" b="0">
                <a:solidFill>
                  <a:srgbClr val="525252"/>
                </a:solidFill>
                <a:latin typeface="Calibri"/>
              </a:rPr>
              <a:t>tanggal penyerahan dicatat sekali saat penyerahan pertama; tanggal pengembalian diperbarui setiap kali dicatat.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Catatan: </a:t>
            </a:r>
            <a:r>
              <a:rPr sz="900" b="0">
                <a:solidFill>
                  <a:srgbClr val="525252"/>
                </a:solidFill>
                <a:latin typeface="Calibri"/>
              </a:rPr>
              <a:t>opsional, langsung disimpan ke catatan serah terima.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4828032"/>
            <a:ext cx="7360920" cy="1554480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7992" y="4937760"/>
            <a:ext cx="7031736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161616"/>
                </a:solidFill>
                <a:latin typeface="Calibri"/>
              </a:rPr>
              <a:t>Dampak ke status pengajuan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07992" y="5266944"/>
            <a:ext cx="70317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Saat diserahkan: </a:t>
            </a:r>
            <a:r>
              <a:rPr sz="900" b="0">
                <a:solidFill>
                  <a:srgbClr val="525252"/>
                </a:solidFill>
                <a:latin typeface="Calibri"/>
              </a:rPr>
              <a:t>jika status masih PAS_TERBIT, otomatis berubah menjadi DILAKSANAKAN. Bila statusnya sudah lain (mis. ACKNOWLEDGED AOCH), catatan serah terima tetap tersimpan tetapi status pengajuan tidak berubah.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Saat dikembalikan: </a:t>
            </a:r>
            <a:r>
              <a:rPr sz="900" b="0">
                <a:solidFill>
                  <a:srgbClr val="525252"/>
                </a:solidFill>
                <a:latin typeface="Calibri"/>
              </a:rPr>
              <a:t>status pengajuan BELUM berubah — baru berubah menjadi SELESAI ketika AOCH menekan “Tandai Selesai”.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Konsekuensi tampilan: </a:t>
            </a:r>
            <a:r>
              <a:rPr sz="900" b="0">
                <a:solidFill>
                  <a:srgbClr val="525252"/>
                </a:solidFill>
                <a:latin typeface="Calibri"/>
              </a:rPr>
              <a:t>begitu kartu tercatat DIKEMBALIKAN, masa berlaku PAS langsung tampil SELESAI meskipun pengajuan belum Selesai.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83112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FASE 4 — SERAH TERIMA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1183112" cy="5029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2200" b="1">
                <a:solidFill>
                  <a:srgbClr val="161616"/>
                </a:solidFill>
                <a:latin typeface="Calibri"/>
              </a:rPr>
              <a:t>Syarat &amp; Dampak Setiap Aksi AOCH (diperiksa server-side)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8288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525252"/>
                </a:solidFill>
                <a:latin typeface="Calibri"/>
              </a:rPr>
              <a:t>Alur Proses Bisnis PAS Bandara — diselaraskan dengan implementasi kode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r"/>
            <a:r>
              <a:rPr sz="900" b="0">
                <a:solidFill>
                  <a:srgbClr val="525252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98448"/>
          <a:ext cx="11183112" cy="3218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/>
                <a:gridCol w="5120640"/>
                <a:gridCol w="4279392"/>
              </a:tblGrid>
              <a:tr h="29260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AKSI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SYARAT WAJIB (diperiksa berurutan)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AKSI BERHASIL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731520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009D9A"/>
                          </a:solidFill>
                          <a:latin typeface="Calibri"/>
                        </a:rPr>
                        <a:t>Simpan Nomor PAS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Status pengajuan: PAS_TERBIT, ACKNOWLEDGED_AOCH, SIAP_DILAKSANAKAN, atau DILAKSANAKAN.
Semua pendamping harus punya nomor.
Nomor tidak boleh bentrok dengan pendamping lain yang masih aktif.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Nomor tersimpan per pendamping.
Status pengajuan tidak berubah.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009D9A"/>
                          </a:solidFill>
                          <a:latin typeface="Calibri"/>
                        </a:rPr>
                        <a:t>Catat Penyerahan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Hari ini ≥ tanggal pelaksanaan (tombol terkunci sebelum tanggal itu).
Semua pendamping sudah punya nomor PAS.
Foto orang penerima — lewat kamera atau unggah berkas.
Tanda tangan elektronik dibuat.
Nama penerima terisi.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Serah terima = DITERIMA.
Notifikasi “PAS diserahkan” ke pemohon.
Status PAS_TERBIT → DILAKSANAKAN.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731520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009D9A"/>
                          </a:solidFill>
                          <a:latin typeface="Calibri"/>
                        </a:rPr>
                        <a:t>Catat Pengembalian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Serah terima sedang berstatus DITERIMA.
Foto pengembalian.
Tanda tangan pengembalian.
Tidak ada batas tanggal — boleh kapan saja.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Serah terima = DIKEMBALIKAN.
Notifikasi “PAS dikembalikan” ke pemohon.
Masa berlaku PAS langsung tampil SELESAI.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161616"/>
                          </a:solidFill>
                          <a:latin typeface="Calibri"/>
                        </a:rPr>
                        <a:t>Tandai Selesai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Serah terima sudah DIKEMBALIKAN.
Tidak ada syarat atas status pengajuan.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Pengajuan = SELESAI.
Notifikasi “Layanan selesai”.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700016"/>
            <a:ext cx="5486400" cy="1463040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4809744"/>
            <a:ext cx="5157216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161616"/>
                </a:solidFill>
                <a:latin typeface="Calibri"/>
              </a:rPr>
              <a:t>Syarat non-teknis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138927"/>
            <a:ext cx="515721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0">
                <a:solidFill>
                  <a:srgbClr val="525252"/>
                </a:solidFill>
                <a:latin typeface="Calibri"/>
              </a:rPr>
              <a:t>Penyerahan cukup diwakilkan oleh PIC pemohon atau orang yang ditugaskan.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0">
                <a:solidFill>
                  <a:srgbClr val="525252"/>
                </a:solidFill>
                <a:latin typeface="Calibri"/>
              </a:rPr>
              <a:t>PAS Visitor berlaku satu hari kalender sejak tanggal Berlaku PAS.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0">
                <a:solidFill>
                  <a:srgbClr val="525252"/>
                </a:solidFill>
                <a:latin typeface="Calibri"/>
              </a:rPr>
              <a:t>Setelah dikembalikan, nomor PAS boleh dipakai pengajuan lain.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4700016"/>
            <a:ext cx="5486400" cy="1463040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4809744"/>
            <a:ext cx="5157216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161616"/>
                </a:solidFill>
                <a:latin typeface="Calibri"/>
              </a:rPr>
              <a:t>Perilaku tombol yang mungkin membingungkan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5138927"/>
            <a:ext cx="515721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0">
                <a:solidFill>
                  <a:srgbClr val="525252"/>
                </a:solidFill>
                <a:latin typeface="Calibri"/>
              </a:rPr>
              <a:t>Tombol Catat Penyerahan terkunci sebelum tanggal pelaksanaan — alasannya ditampilkan tepat di bawah tombol.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0">
                <a:solidFill>
                  <a:srgbClr val="525252"/>
                </a:solidFill>
                <a:latin typeface="Calibri"/>
              </a:rPr>
              <a:t>Begitu kartu berstatus DIKEMBALIKAN, tidak ada lagi tombol penyerahan; satu-satunya sisa tindakan adalah Tandai Selesai.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0">
                <a:solidFill>
                  <a:srgbClr val="525252"/>
                </a:solidFill>
                <a:latin typeface="Calibri"/>
              </a:rPr>
              <a:t>Klik tanpa tanda tangan atau foto akan ditolak dengan pesan yang menyebutkan bagian mana yang kurang.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83112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ATURAN PENTING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1183112" cy="5029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2200" b="1">
                <a:solidFill>
                  <a:srgbClr val="161616"/>
                </a:solidFill>
                <a:latin typeface="Calibri"/>
              </a:rPr>
              <a:t>Nomor PAS Visitor &amp; Masa Berlaku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8288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525252"/>
                </a:solidFill>
                <a:latin typeface="Calibri"/>
              </a:rPr>
              <a:t>Alur Proses Bisnis PAS Bandara — diselaraskan dengan implementasi kode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r"/>
            <a:r>
              <a:rPr sz="900" b="0">
                <a:solidFill>
                  <a:srgbClr val="525252"/>
                </a:solidFill>
                <a:latin typeface="Calibr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5486400" cy="2103120"/>
          </a:xfrm>
          <a:prstGeom prst="rect">
            <a:avLst/>
          </a:prstGeom>
          <a:solidFill>
            <a:srgbClr val="FFF2F3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408176"/>
            <a:ext cx="5157216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DA1E28"/>
                </a:solidFill>
                <a:latin typeface="Calibri"/>
              </a:rPr>
              <a:t>Aturan nomor PAS Visitor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737360"/>
            <a:ext cx="5157216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Satu nomor = satu pendamping, </a:t>
            </a:r>
            <a:r>
              <a:rPr sz="900" b="0">
                <a:solidFill>
                  <a:srgbClr val="525252"/>
                </a:solidFill>
                <a:latin typeface="Calibri"/>
              </a:rPr>
              <a:t>bukan satu pengajuan. Nomor menempel pada baris data pendamping.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Nomor dianggap masih terpakai </a:t>
            </a:r>
            <a:r>
              <a:rPr sz="900" b="0">
                <a:solidFill>
                  <a:srgbClr val="525252"/>
                </a:solidFill>
                <a:latin typeface="Calibri"/>
              </a:rPr>
              <a:t>bila pengajuan lamanya belum selesai: belum SELESAI, belum DIBATALKAN, dan kartunya belum dicatat DIKEMBALIKAN.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Nomor boleh dipakai lagi </a:t>
            </a:r>
            <a:r>
              <a:rPr sz="900" b="0">
                <a:solidFill>
                  <a:srgbClr val="525252"/>
                </a:solidFill>
                <a:latin typeface="Calibri"/>
              </a:rPr>
              <a:t>apabila pengajuan lama sudah SELESAI atau DIBATALKAN, atau kartunya sudah dicatat DIKEMBALIKAN.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Pencocokan tidak membedakan huruf besar/kecil </a:t>
            </a:r>
            <a:r>
              <a:rPr sz="900" b="0">
                <a:solidFill>
                  <a:srgbClr val="525252"/>
                </a:solidFill>
                <a:latin typeface="Calibri"/>
              </a:rPr>
              <a:t>dan membandingkan hanya digit NIK.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Tidak ada constraint unik di database </a:t>
            </a:r>
            <a:r>
              <a:rPr sz="900" b="0">
                <a:solidFill>
                  <a:srgbClr val="525252"/>
                </a:solidFill>
                <a:latin typeface="Calibri"/>
              </a:rPr>
              <a:t>— aturan ini hanya ditegakkan di halaman AOCH. Verifikasi PAS menerapkan penyaringan yang sama saat membaca nomor.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298448"/>
            <a:ext cx="5486400" cy="2103120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224" y="1408176"/>
            <a:ext cx="5157216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161616"/>
                </a:solidFill>
                <a:latin typeface="Calibri"/>
              </a:rPr>
              <a:t>Masa berlaku PAS Visitor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1737360"/>
            <a:ext cx="5157216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Berlaku tepat satu hari kalender: </a:t>
            </a:r>
            <a:r>
              <a:rPr sz="900" b="0">
                <a:solidFill>
                  <a:srgbClr val="525252"/>
                </a:solidFill>
                <a:latin typeface="Calibri"/>
              </a:rPr>
              <a:t>pada tanggal_berlaku_pas, habis pada tanggal_berlaku_pas + 1 hari.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tanggal_berlaku_pas diisi saat PAS diterbitkan </a:t>
            </a:r>
            <a:r>
              <a:rPr sz="900" b="0">
                <a:solidFill>
                  <a:srgbClr val="525252"/>
                </a:solidFill>
                <a:latin typeface="Calibri"/>
              </a:rPr>
              <a:t>dan nilainya disalin dari tanggal_pelaksanaan pengajuan.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Perhitungan memakai zona waktu Asia/Jakarta </a:t>
            </a:r>
            <a:r>
              <a:rPr sz="900" b="0">
                <a:solidFill>
                  <a:srgbClr val="525252"/>
                </a:solidFill>
                <a:latin typeface="Calibri"/>
              </a:rPr>
              <a:t>(WIB).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Tidak ada status “kedaluwarsa” di database. </a:t>
            </a:r>
            <a:r>
              <a:rPr sz="900" b="0">
                <a:solidFill>
                  <a:srgbClr val="525252"/>
                </a:solidFill>
                <a:latin typeface="Calibri"/>
              </a:rPr>
              <a:t>Status kedaluwarsa dihitung ulang dari kalender setiap kali halaman dibuka — tidak ada yang bisa “meng-expire” PAS secara manual.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Fisik PAS: </a:t>
            </a:r>
            <a:r>
              <a:rPr sz="900" b="0">
                <a:solidFill>
                  <a:srgbClr val="525252"/>
                </a:solidFill>
                <a:latin typeface="Calibri"/>
              </a:rPr>
              <a:t>kartu bisa terlambat dikembalikan; yang kedaluwarsa adalah hak penggunaannya, bukan status pengajuan.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3602736"/>
          <a:ext cx="11183112" cy="20482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851392"/>
              </a:tblGrid>
              <a:tr h="29260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STATUS MASA BERLAKU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KONDISI (diperiksa berurutan, yang pertama cocok menang)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29260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161616"/>
                          </a:solidFill>
                          <a:latin typeface="Calibri"/>
                        </a:rPr>
                        <a:t>SELESAI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Pengajuan sudah berstatus Selesai.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161616"/>
                          </a:solidFill>
                          <a:latin typeface="Calibri"/>
                        </a:rPr>
                        <a:t>SELESAI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Atau kartu fisik sudah dicatat DIKEMBALIKAN — meskipun pengajuan belum Selesai.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9260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6C757D"/>
                          </a:solidFill>
                          <a:latin typeface="Calibri"/>
                        </a:rPr>
                        <a:t>BELUM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PAS belum diterbitkan (tanggal Berlaku PAS masih kosong).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0F62FE"/>
                          </a:solidFill>
                          <a:latin typeface="Calibri"/>
                        </a:rPr>
                        <a:t>TERJADWAL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PAS terbit untuk tanggal yang belum datang.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9260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24A148"/>
                          </a:solidFill>
                          <a:latin typeface="Calibri"/>
                        </a:rPr>
                        <a:t>AKTIF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Hari ini sama dengan tanggal Berlaku PAS.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DA1E28"/>
                          </a:solidFill>
                          <a:latin typeface="Calibri"/>
                        </a:rPr>
                        <a:t>KEDALUWARSA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Hari ini sudah melewati tanggal Berlaku PAS.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83112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VERIFIKASI — AVSEC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1183112" cy="5029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2200" b="1">
                <a:solidFill>
                  <a:srgbClr val="161616"/>
                </a:solidFill>
                <a:latin typeface="Calibri"/>
              </a:rPr>
              <a:t>Cek Status PAS Visitor: Aktif atau Kedaluwarsa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8288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525252"/>
                </a:solidFill>
                <a:latin typeface="Calibri"/>
              </a:rPr>
              <a:t>Alur Proses Bisnis PAS Bandara — diselaraskan dengan implementasi kode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r"/>
            <a:r>
              <a:rPr sz="900" b="0">
                <a:solidFill>
                  <a:srgbClr val="525252"/>
                </a:solidFill>
                <a:latin typeface="Calibr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298448"/>
            <a:ext cx="3154680" cy="694944"/>
          </a:xfrm>
          <a:prstGeom prst="roundRect">
            <a:avLst>
              <a:gd name="adj" fmla="val 9000"/>
            </a:avLst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Menu Verifikasi PAS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terbuka untuk publik — tanpa login</a:t>
            </a:r>
          </a:p>
        </p:txBody>
      </p:sp>
      <p:sp>
        <p:nvSpPr>
          <p:cNvPr id="9" name="Down Arrow 8"/>
          <p:cNvSpPr/>
          <p:nvPr/>
        </p:nvSpPr>
        <p:spPr>
          <a:xfrm>
            <a:off x="2295144" y="2011680"/>
            <a:ext cx="219456" cy="237744"/>
          </a:xfrm>
          <a:prstGeom prst="down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249424"/>
            <a:ext cx="3154680" cy="694944"/>
          </a:xfrm>
          <a:prstGeom prst="roundRect">
            <a:avLst>
              <a:gd name="adj" fmla="val 9000"/>
            </a:avLst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Masukkan Satu Nomor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nomor request REQ-… atau nomor PAS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295144" y="2962656"/>
            <a:ext cx="219456" cy="237744"/>
          </a:xfrm>
          <a:prstGeom prst="down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200400"/>
            <a:ext cx="3154680" cy="694944"/>
          </a:xfrm>
          <a:prstGeom prst="roundRect">
            <a:avLst>
              <a:gd name="adj" fmla="val 9000"/>
            </a:avLst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Sistem Mencocokkan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nomor request dulu, lalu nomor PAS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295144" y="3913632"/>
            <a:ext cx="219456" cy="237744"/>
          </a:xfrm>
          <a:prstGeom prst="down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4151376"/>
            <a:ext cx="3154680" cy="694944"/>
          </a:xfrm>
          <a:prstGeom prst="roundRect">
            <a:avLst>
              <a:gd name="adj" fmla="val 9000"/>
            </a:avLst>
          </a:prstGeom>
          <a:solidFill>
            <a:srgbClr val="24A1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Tampil Status PAS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AKTIF / TERJADWAL / KEDALUWARSA / SELESAI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1298448"/>
            <a:ext cx="7360920" cy="1664208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1408176"/>
            <a:ext cx="7031736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161616"/>
                </a:solidFill>
                <a:latin typeface="Calibri"/>
              </a:rPr>
              <a:t>Yang ditampilkan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1737360"/>
            <a:ext cx="703173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Banner status berwarna: </a:t>
            </a:r>
            <a:r>
              <a:rPr sz="900" b="0">
                <a:solidFill>
                  <a:srgbClr val="525252"/>
                </a:solidFill>
                <a:latin typeface="Calibri"/>
              </a:rPr>
              <a:t>hijau AKTIF, merah SUDAH KEDALUWARSA, biru TERJADWAL, merah PAS SELESAI — KEMBALI, abu BELUM DITERBITKAN.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Nomor request &amp; layanan: </a:t>
            </a:r>
            <a:r>
              <a:rPr sz="900" b="0">
                <a:solidFill>
                  <a:srgbClr val="525252"/>
                </a:solidFill>
                <a:latin typeface="Calibri"/>
              </a:rPr>
              <a:t>nomor pengajuan, nama layanan, lokasi, dan status pengajuan.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Pemohon / PIC dan tanggal pelaksanaan, </a:t>
            </a:r>
            <a:r>
              <a:rPr sz="900" b="0">
                <a:solidFill>
                  <a:srgbClr val="525252"/>
                </a:solidFill>
                <a:latin typeface="Calibri"/>
              </a:rPr>
              <a:t>serta tanggal Berlaku PAS dan tanggal masa berlakunya habis.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Status serah terima: </a:t>
            </a:r>
            <a:r>
              <a:rPr sz="900" b="0">
                <a:solidFill>
                  <a:srgbClr val="525252"/>
                </a:solidFill>
                <a:latin typeface="Calibri"/>
              </a:rPr>
              <a:t>diserahkan ke siapa dan jam berapa, dikembalikan jam berapa.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Atas nama: </a:t>
            </a:r>
            <a:r>
              <a:rPr sz="900" b="0">
                <a:solidFill>
                  <a:srgbClr val="525252"/>
                </a:solidFill>
                <a:latin typeface="Calibri"/>
              </a:rPr>
              <a:t>seluruh pendamping beserta NIK, dengan lencana nomor PAS bila sudah ditetapkan.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Setiap pencarian dicatat di audit log </a:t>
            </a:r>
            <a:r>
              <a:rPr sz="900" b="0">
                <a:solidFill>
                  <a:srgbClr val="525252"/>
                </a:solidFill>
                <a:latin typeface="Calibri"/>
              </a:rPr>
              <a:t>(VERIFIKASI_PAS) — sukses maupun tidak.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108960"/>
            <a:ext cx="7360920" cy="1133856"/>
          </a:xfrm>
          <a:prstGeom prst="rect">
            <a:avLst/>
          </a:prstGeom>
          <a:solidFill>
            <a:srgbClr val="FFF2F3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7992" y="3218688"/>
            <a:ext cx="7031736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DA1E28"/>
                </a:solidFill>
                <a:latin typeface="Calibri"/>
              </a:rPr>
              <a:t>Kalimat yang ditampilkan untuk PAS kedaluwarsa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3547872"/>
            <a:ext cx="7031736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DA1E28"/>
                </a:solidFill>
                <a:latin typeface="Calibri"/>
              </a:rPr>
              <a:t>“PAS visitor ini sudah lewat masa berlaku dan tidak sah untuk digunakan kembali (termasuk esok hari).”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4389120"/>
            <a:ext cx="7360920" cy="1993392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7992" y="4498848"/>
            <a:ext cx="7031736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161616"/>
                </a:solidFill>
                <a:latin typeface="Calibri"/>
              </a:rPr>
              <a:t>Tujuan &amp; batasan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7992" y="4828031"/>
            <a:ext cx="7031736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Mencegah penyalahgunaan: </a:t>
            </a:r>
            <a:r>
              <a:rPr sz="900" b="0">
                <a:solidFill>
                  <a:srgbClr val="525252"/>
                </a:solidFill>
                <a:latin typeface="Calibri"/>
              </a:rPr>
              <a:t>PAS Visitor berlaku satu hari sehingga tidak bisa dipakai lagi pada hari berikutnya.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Pencarian bersifat publik </a:t>
            </a:r>
            <a:r>
              <a:rPr sz="900" b="0">
                <a:solidFill>
                  <a:srgbClr val="525252"/>
                </a:solidFill>
                <a:latin typeface="Calibri"/>
              </a:rPr>
              <a:t>— siapa pun yang memegang nomor REQ-… atau PAS-… dapat melihat statusnya. Ini disengaja untuk petugas Avsec di lapangan.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Nomor PAS yang dipakai ulang </a:t>
            </a:r>
            <a:r>
              <a:rPr sz="900" b="0">
                <a:solidFill>
                  <a:srgbClr val="525252"/>
                </a:solidFill>
                <a:latin typeface="Calibri"/>
              </a:rPr>
              <a:t>otomatis tidak lagi menemukan pengajuan lama (sudah disaring SELESAI/DIBATALKAN/DIKEMBALIKAN), sehingga hasil verifikasi selalu merujuk pada pemakaian yang sedang berlaku.</a:t>
            </a:r>
          </a:p>
          <a:p>
            <a:pPr algn="l"/>
            <a:r>
              <a:rPr sz="900" b="1">
                <a:solidFill>
                  <a:srgbClr val="525252"/>
                </a:solidFill>
                <a:latin typeface="Calibri"/>
              </a:rPr>
              <a:t>• </a:t>
            </a:r>
            <a:r>
              <a:rPr sz="900" b="1">
                <a:solidFill>
                  <a:srgbClr val="525252"/>
                </a:solidFill>
                <a:latin typeface="Calibri"/>
              </a:rPr>
              <a:t>Tidak ada pembatasan percobaan </a:t>
            </a:r>
            <a:r>
              <a:rPr sz="900" b="0">
                <a:solidFill>
                  <a:srgbClr val="525252"/>
                </a:solidFill>
                <a:latin typeface="Calibri"/>
              </a:rPr>
              <a:t>— pencarian berulang atas nomor yang tidak dikenal tetap diperbolehkan; hanya tercatat di audit log.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83112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PENUNJANG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1183112" cy="5029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2200" b="1">
                <a:solidFill>
                  <a:srgbClr val="161616"/>
                </a:solidFill>
                <a:latin typeface="Calibri"/>
              </a:rPr>
              <a:t>Notifikasi &amp; Ringkasan Masa Berlaku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8288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525252"/>
                </a:solidFill>
                <a:latin typeface="Calibri"/>
              </a:rPr>
              <a:t>Alur Proses Bisnis PAS Bandara — diselaraskan dengan implementasi kode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r"/>
            <a:r>
              <a:rPr sz="900" b="0">
                <a:solidFill>
                  <a:srgbClr val="525252"/>
                </a:solidFill>
                <a:latin typeface="Calibr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98448"/>
          <a:ext cx="11183112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2926080"/>
                <a:gridCol w="3959352"/>
              </a:tblGrid>
              <a:tr h="29260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PERISTIWA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PENERIMA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JUDUL NOTIFIKASI (persis seperti di aplikasi)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237744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Pengajuan lolos cek identitas &amp; invoice terbit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Pemohon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1">
                          <a:solidFill>
                            <a:srgbClr val="0F62FE"/>
                          </a:solidFill>
                          <a:latin typeface="Calibri"/>
                        </a:rPr>
                        <a:t>Pengajuan diterima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Pemohon mengunggah bukti bayar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Komersil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1">
                          <a:solidFill>
                            <a:srgbClr val="24A148"/>
                          </a:solidFill>
                          <a:latin typeface="Calibri"/>
                        </a:rPr>
                        <a:t>Bukti pembayaran diunggah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37744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Pemohon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1">
                          <a:solidFill>
                            <a:srgbClr val="24A148"/>
                          </a:solidFill>
                          <a:latin typeface="Calibri"/>
                        </a:rPr>
                        <a:t>Bukti pembayaran diterima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Bukti bayar dinilai tidak valid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Pemohon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1">
                          <a:solidFill>
                            <a:srgbClr val="DA1E28"/>
                          </a:solidFill>
                          <a:latin typeface="Calibri"/>
                        </a:rPr>
                        <a:t>Bukti pembayaran ditolak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37744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Bukti bayar dinilai lunas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Operasi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1">
                          <a:solidFill>
                            <a:srgbClr val="8A3FFC"/>
                          </a:solidFill>
                          <a:latin typeface="Calibri"/>
                        </a:rPr>
                        <a:t>Siap terbitkan PAS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Pemohon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1">
                          <a:solidFill>
                            <a:srgbClr val="24A148"/>
                          </a:solidFill>
                          <a:latin typeface="Calibri"/>
                        </a:rPr>
                        <a:t>Pembayaran diterima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37744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Komersil meneruskan pengajuan ke Operasi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Operasi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1">
                          <a:solidFill>
                            <a:srgbClr val="8A3FFC"/>
                          </a:solidFill>
                          <a:latin typeface="Calibri"/>
                        </a:rPr>
                        <a:t>Siap terbitkan PAS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Operasi menerbitkan PAS Visitor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AOCH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1">
                          <a:solidFill>
                            <a:srgbClr val="009D9A"/>
                          </a:solidFill>
                          <a:latin typeface="Calibri"/>
                        </a:rPr>
                        <a:t>PAS diterbitkan — siap diserahkan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37744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Pemohon / Komersil / Operasi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1">
                          <a:solidFill>
                            <a:srgbClr val="0F62FE"/>
                          </a:solidFill>
                          <a:latin typeface="Calibri"/>
                        </a:rPr>
                        <a:t>PAS diterbitkan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PAS ditolak karena daftar hitam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Pemohon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1">
                          <a:solidFill>
                            <a:srgbClr val="DA1E28"/>
                          </a:solidFill>
                          <a:latin typeface="Calibri"/>
                        </a:rPr>
                        <a:t>PAS tidak diterbitkan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37744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Operasi menolak pengajuan manual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Pemohon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1">
                          <a:solidFill>
                            <a:srgbClr val="DA1E28"/>
                          </a:solidFill>
                          <a:latin typeface="Calibri"/>
                        </a:rPr>
                        <a:t>Pengajuan ditolak Operasi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AOCH mencatat penyerahan PAS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Pemohon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1">
                          <a:solidFill>
                            <a:srgbClr val="009D9A"/>
                          </a:solidFill>
                          <a:latin typeface="Calibri"/>
                        </a:rPr>
                        <a:t>PAS diserahkan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37744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AOCH mencatat pengembalian PAS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Pemohon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1">
                          <a:solidFill>
                            <a:srgbClr val="009D9A"/>
                          </a:solidFill>
                          <a:latin typeface="Calibri"/>
                        </a:rPr>
                        <a:t>PAS dikembalikan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Pengajuan ditandai selesai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0">
                          <a:solidFill>
                            <a:srgbClr val="525252"/>
                          </a:solidFill>
                          <a:latin typeface="Calibri"/>
                        </a:rPr>
                        <a:t>Pemohon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50" b="1">
                          <a:solidFill>
                            <a:srgbClr val="161616"/>
                          </a:solidFill>
                          <a:latin typeface="Calibri"/>
                        </a:rPr>
                        <a:t>Layanan selesai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5285232"/>
            <a:ext cx="5486400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5394960"/>
            <a:ext cx="5157216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161616"/>
                </a:solidFill>
                <a:latin typeface="Calibri"/>
              </a:rPr>
              <a:t>Cara notifikasi dikirim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724144"/>
            <a:ext cx="51572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525252"/>
                </a:solidFill>
                <a:latin typeface="Calibri"/>
              </a:rPr>
              <a:t>• </a:t>
            </a:r>
            <a:r>
              <a:rPr sz="850" b="0">
                <a:solidFill>
                  <a:srgbClr val="525252"/>
                </a:solidFill>
                <a:latin typeface="Calibri"/>
              </a:rPr>
              <a:t>In-app (lonceng notifikasi) bila pemohon punya akun; bila tidak, hanya e-mail.</a:t>
            </a:r>
          </a:p>
          <a:p>
            <a:pPr algn="l"/>
            <a:r>
              <a:rPr sz="850" b="1">
                <a:solidFill>
                  <a:srgbClr val="525252"/>
                </a:solidFill>
                <a:latin typeface="Calibri"/>
              </a:rPr>
              <a:t>• </a:t>
            </a:r>
            <a:r>
              <a:rPr sz="850" b="0">
                <a:solidFill>
                  <a:srgbClr val="525252"/>
                </a:solidFill>
                <a:latin typeface="Calibri"/>
              </a:rPr>
              <a:t>E-mail memakai subjek berawalan [EPermit]; kegagalan kirim tidak menghentikan alur.</a:t>
            </a:r>
          </a:p>
          <a:p>
            <a:pPr algn="l"/>
            <a:r>
              <a:rPr sz="850" b="1">
                <a:solidFill>
                  <a:srgbClr val="525252"/>
                </a:solidFill>
                <a:latin typeface="Calibri"/>
              </a:rPr>
              <a:t>• </a:t>
            </a:r>
            <a:r>
              <a:rPr sz="850" b="0">
                <a:solidFill>
                  <a:srgbClr val="525252"/>
                </a:solidFill>
                <a:latin typeface="Calibri"/>
              </a:rPr>
              <a:t>Notifikasi juga ditampilkan di menu Dashboard tiap peran: Commercial, Operation, dan AOCH.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5285232"/>
            <a:ext cx="5486400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5394960"/>
            <a:ext cx="5157216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161616"/>
                </a:solidFill>
                <a:latin typeface="Calibri"/>
              </a:rPr>
              <a:t>Ringkasan PAS di dashboard petugas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5724144"/>
            <a:ext cx="51572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525252"/>
                </a:solidFill>
                <a:latin typeface="Calibri"/>
              </a:rPr>
              <a:t>• </a:t>
            </a:r>
            <a:r>
              <a:rPr sz="850" b="0">
                <a:solidFill>
                  <a:srgbClr val="525252"/>
                </a:solidFill>
                <a:latin typeface="Calibri"/>
              </a:rPr>
              <a:t>Tiga penghitung: sudah diserahkan / sedang berjalan / masa berlaku habis.</a:t>
            </a:r>
          </a:p>
          <a:p>
            <a:pPr algn="l"/>
            <a:r>
              <a:rPr sz="850" b="1">
                <a:solidFill>
                  <a:srgbClr val="525252"/>
                </a:solidFill>
                <a:latin typeface="Calibri"/>
              </a:rPr>
              <a:t>• </a:t>
            </a:r>
            <a:r>
              <a:rPr sz="850" b="0">
                <a:solidFill>
                  <a:srgbClr val="525252"/>
                </a:solidFill>
                <a:latin typeface="Calibri"/>
              </a:rPr>
              <a:t>Lencana “Berlaku 1 hari” dengan tanggal hari ini.</a:t>
            </a:r>
          </a:p>
          <a:p>
            <a:pPr algn="l"/>
            <a:r>
              <a:rPr sz="850" b="1">
                <a:solidFill>
                  <a:srgbClr val="525252"/>
                </a:solidFill>
                <a:latin typeface="Calibri"/>
              </a:rPr>
              <a:t>• </a:t>
            </a:r>
            <a:r>
              <a:rPr sz="850" b="0">
                <a:solidFill>
                  <a:srgbClr val="525252"/>
                </a:solidFill>
                <a:latin typeface="Calibri"/>
              </a:rPr>
              <a:t>AVSEC hanya mendapat ringkasan ini — tidak ada menu tulis.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83112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ALUR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1183112" cy="5029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2200" b="1">
                <a:solidFill>
                  <a:srgbClr val="161616"/>
                </a:solidFill>
                <a:latin typeface="Calibri"/>
              </a:rPr>
              <a:t>Peta Status Pengajuan yang Benar-Benar Dipakai Kode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8288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525252"/>
                </a:solidFill>
                <a:latin typeface="Calibri"/>
              </a:rPr>
              <a:t>Alur Proses Bisnis PAS Bandara — diselaraskan dengan implementasi kode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r"/>
            <a:r>
              <a:rPr sz="900" b="0">
                <a:solidFill>
                  <a:srgbClr val="525252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53312"/>
            <a:ext cx="1170432" cy="530352"/>
          </a:xfrm>
          <a:prstGeom prst="roundRect">
            <a:avLst>
              <a:gd name="adj" fmla="val 12000"/>
            </a:avLst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DRAFT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655064" y="1536192"/>
            <a:ext cx="146304" cy="182880"/>
          </a:xfrm>
          <a:prstGeom prst="right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819656" y="1353312"/>
            <a:ext cx="1847088" cy="530352"/>
          </a:xfrm>
          <a:prstGeom prst="roundRect">
            <a:avLst>
              <a:gd name="adj" fmla="val 12000"/>
            </a:avLst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MENUNGGU_PEMBAYARAN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648456" y="1536192"/>
            <a:ext cx="146304" cy="182880"/>
          </a:xfrm>
          <a:prstGeom prst="right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13048" y="1353312"/>
            <a:ext cx="1700784" cy="530352"/>
          </a:xfrm>
          <a:prstGeom prst="roundRect">
            <a:avLst>
              <a:gd name="adj" fmla="val 12000"/>
            </a:avLst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BUKTI_TERUNGGAH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95544" y="1536192"/>
            <a:ext cx="146304" cy="182880"/>
          </a:xfrm>
          <a:prstGeom prst="right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0136" y="1353312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8A3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MENUNGGU_OPERASI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397496" y="1536192"/>
            <a:ext cx="146304" cy="182880"/>
          </a:xfrm>
          <a:prstGeom prst="right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562088" y="1353312"/>
            <a:ext cx="1298448" cy="530352"/>
          </a:xfrm>
          <a:prstGeom prst="roundRect">
            <a:avLst>
              <a:gd name="adj" fmla="val 12000"/>
            </a:avLst>
          </a:prstGeom>
          <a:solidFill>
            <a:srgbClr val="8A3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PAS_TERBIT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42248" y="1536192"/>
            <a:ext cx="146304" cy="182880"/>
          </a:xfrm>
          <a:prstGeom prst="right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06840" y="1353312"/>
            <a:ext cx="1700784" cy="530352"/>
          </a:xfrm>
          <a:prstGeom prst="roundRect">
            <a:avLst>
              <a:gd name="adj" fmla="val 12000"/>
            </a:avLst>
          </a:prstGeom>
          <a:solidFill>
            <a:srgbClr val="009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DILAKSANAKAN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0689336" y="1536192"/>
            <a:ext cx="146304" cy="182880"/>
          </a:xfrm>
          <a:prstGeom prst="rightArrow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853928" y="1353312"/>
            <a:ext cx="1207008" cy="530352"/>
          </a:xfrm>
          <a:prstGeom prst="roundRect">
            <a:avLst>
              <a:gd name="adj" fmla="val 12000"/>
            </a:avLst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SELESAI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920240"/>
            <a:ext cx="11183112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950" b="1">
                <a:solidFill>
                  <a:srgbClr val="DA1E28"/>
                </a:solidFill>
                <a:latin typeface="Calibri"/>
              </a:rPr>
              <a:t>Catatan: </a:t>
            </a:r>
            <a:r>
              <a:rPr sz="950" b="0">
                <a:solidFill>
                  <a:srgbClr val="525252"/>
                </a:solidFill>
                <a:latin typeface="Calibri"/>
              </a:rPr>
              <a:t>pengajuan yang lolos cek blacklist TIDAK PERNAH dibuat, sehingga tidak ada status “ditolak saat kirim”. Penolakan hanya terjadi di sisi Operasi.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02920" y="2304288"/>
          <a:ext cx="11183112" cy="27066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60520"/>
                <a:gridCol w="1600200"/>
                <a:gridCol w="5422392"/>
              </a:tblGrid>
              <a:tr h="29260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PERPINTAHAN STATUS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PELAKU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KONDISI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20116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DRAFT → MENUNGGU PEMBAYARAN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Pemohon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Form valid, seluruh pendamping &amp; dokumen lengkap, tidak ada NIK/nama di daftar hitam.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MENUNGGU PEMBAYARAN → BUKTI TERUNGGAH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Pemohon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Bukti bayar diunggah saat status masih Menunggu Pembayaran.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0116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BUKTI TERUNGGAH → MENUNGGU PEMBAYARAN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Komersil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Bukti dinilai tidak valid — pemohon diminta mengunggah ulang.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BUKTI TERUNGGAH → MENUNGGU OPERASI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Komersil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Bukti dinilai valid/lunas — lompat langsung, tanpa status “Sudah Dibayar”.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0116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MENUNGGU OPERASI → BUKTI TERUNGGAH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Komersil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Validasi dibatalkan untuk koreksi — wajib divalidasi ulang.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* → SUDAH DIBAYAR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Webhook penyedia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Callback pembayaran otomatis. Tidak pernah diisi validasi manual.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0116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MENUNGGU OPERASI / DIBAYAR / ACKNOWLEDGED AOCH → PAS TERBIT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Operasi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Tidak ada NIK atau nama di daftar hitam.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* → DITOLAK OPERASI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Operasi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Ada NIK di daftar hitam saat penerbitan, atau penolakan manual dengan alasan wajib.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0116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PAS TERBIT → DILAKSANAKAN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AOCH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Syarat: serah terima dicatat (foto + TTD + tanggal &amp; jam).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ACKNOWLEDGED AOCH / SIAP DILAKSANAKAN → DILAKSANAKAN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Operasi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Penandaan manual; berlaku bila status bukan PAS Terbit.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0116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DILAKSANAKAN → SELESAI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Operasi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Penandaan manual dari status Dilaksanakan.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* → SELESAI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AOCH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800" b="0">
                          <a:solidFill>
                            <a:srgbClr val="525252"/>
                          </a:solidFill>
                          <a:latin typeface="Calibri"/>
                        </a:rPr>
                        <a:t>Syarat: kartu sudah DIKEMBALIKAN. Tidak ada syarat atas status pengajuan.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502920" y="5285232"/>
            <a:ext cx="11183112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394960"/>
            <a:ext cx="10853928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161616"/>
                </a:solidFill>
                <a:latin typeface="Calibri"/>
              </a:rPr>
              <a:t>Status yang ada di model tetapi tidak pernah dipakai kode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724144"/>
            <a:ext cx="108539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525252"/>
                </a:solidFill>
                <a:latin typeface="Calibri"/>
              </a:rPr>
              <a:t>• </a:t>
            </a:r>
            <a:r>
              <a:rPr sz="850" b="1">
                <a:solidFill>
                  <a:srgbClr val="525252"/>
                </a:solidFill>
                <a:latin typeface="Calibri"/>
              </a:rPr>
              <a:t>Tujuh status berikut </a:t>
            </a:r>
            <a:r>
              <a:rPr sz="850" b="0">
                <a:solidFill>
                  <a:srgbClr val="525252"/>
                </a:solidFill>
                <a:latin typeface="Calibri"/>
              </a:rPr>
              <a:t>— DIAJUKAN, VERIFIKASI_KOMERSIL, DISETUJUI_KOMERSIL, DISETUJUI_OPERASI, REVISI_PEMOHON, SIAP_DILAKSANAKAN, DIBATALKAN — tidak pernah di-set oleh kode mana pun, hanya dibaca sebagai pembanding.</a:t>
            </a:r>
          </a:p>
          <a:p>
            <a:pPr algn="l"/>
            <a:r>
              <a:rPr sz="850" b="1">
                <a:solidFill>
                  <a:srgbClr val="525252"/>
                </a:solidFill>
                <a:latin typeface="Calibri"/>
              </a:rPr>
              <a:t>• </a:t>
            </a:r>
            <a:r>
              <a:rPr sz="850" b="1">
                <a:solidFill>
                  <a:srgbClr val="525252"/>
                </a:solidFill>
                <a:latin typeface="Calibri"/>
              </a:rPr>
              <a:t>Konsekuensi: </a:t>
            </a:r>
            <a:r>
              <a:rPr sz="850" b="0">
                <a:solidFill>
                  <a:srgbClr val="525252"/>
                </a:solidFill>
                <a:latin typeface="Calibri"/>
              </a:rPr>
              <a:t>langkah “Komersil meminta revisi pemohon” yang pernah ada di denah alur lama TIDAK ada di sistem sekarang. Pemohon yang memasang dokumen, Komersil yang memverifikasi, Operasi yang menerbitkan PAS; yang menolak hanya Operasi.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83112" cy="274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PEMBAGIAN TUGAS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1183112" cy="5029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2200" b="1">
                <a:solidFill>
                  <a:srgbClr val="161616"/>
                </a:solidFill>
                <a:latin typeface="Calibri"/>
              </a:rPr>
              <a:t>Hak Akses per Peran (seperti dijalankan kode)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8288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525252"/>
                </a:solidFill>
                <a:latin typeface="Calibri"/>
              </a:rPr>
              <a:t>Alur Proses Bisnis PAS Bandara — diselaraskan dengan implementasi kode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5603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r"/>
            <a:r>
              <a:rPr sz="900" b="0">
                <a:solidFill>
                  <a:srgbClr val="525252"/>
                </a:solidFill>
                <a:latin typeface="Calibri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98448"/>
          <a:ext cx="11183112" cy="36941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079992"/>
              </a:tblGrid>
              <a:tr h="29260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PERAN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MENU &amp; KEWENANGAN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56692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0F62FE"/>
                          </a:solidFill>
                          <a:latin typeface="Calibri"/>
                        </a:rPr>
                        <a:t>PEMOHON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Form pengajuan publik (tanpa login) • mengunggah bukti bayar • melacak pengajuan sendiri bila punya akun • melihat daftar pengajuannya sendiri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24A148"/>
                          </a:solidFill>
                          <a:latin typeface="Calibri"/>
                        </a:rPr>
                        <a:t>KOMERSIL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Verifikasi pengajuan &amp; dokumen pendamping • melanjutkan ke Operasi • mengelola master layanan, tarif, dan jenis pembayaran • validasi bukti bayar (Valid / Tidak Valid / Koreksi) • membuat akun tim satu role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6692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8A3FFC"/>
                          </a:solidFill>
                          <a:latin typeface="Calibri"/>
                        </a:rPr>
                        <a:t>OPERASI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Daftar Operasi • menolak pengajuan dengan alasan wajib • menerbitkan PAS Visitor • menandai dilaksanakan &amp; selesai • mengelola daftar hitam (tambah / edit / hapus)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009D9A"/>
                          </a:solidFill>
                          <a:latin typeface="Calibri"/>
                        </a:rPr>
                        <a:t>AOCH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Daftar AOCH • memasukkan nomor PAS per pendamping • mencatat serah terima fisik PAS (foto + tanda tangan elektronik) • mencatat pengembalian • menandai pengajuan selesai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6692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DA1E28"/>
                          </a:solidFill>
                          <a:latin typeface="Calibri"/>
                        </a:rPr>
                        <a:t>AVSEC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Hanya membaca: dashboard ringkasan masa berlaku PAS dan menu Verifikasi PAS. Tidak bisa mengubah status pengajuan, tidak bisa mencatat serah terima.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1">
                          <a:solidFill>
                            <a:srgbClr val="161616"/>
                          </a:solidFill>
                          <a:latin typeface="Calibri"/>
                        </a:rPr>
                        <a:t>ADMINISTRATOR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anchor="ctr" lIns="73152" rIns="54864" tIns="18288" bIns="18288"/>
                    <a:lstStyle/>
                    <a:p>
                      <a:pPr algn="l"/>
                      <a:r>
                        <a:rPr sz="900" b="0">
                          <a:solidFill>
                            <a:srgbClr val="525252"/>
                          </a:solidFill>
                          <a:latin typeface="Calibri"/>
                        </a:rPr>
                        <a:t>Akses penuh — is_staff melewati semua pemeriksaan peran, termasuk modul AOCH. Ditambah Statistik, Laporan, ekspor CSV, dan Django admin.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5138928"/>
            <a:ext cx="11183112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5248656"/>
            <a:ext cx="10853928" cy="2926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161616"/>
                </a:solidFill>
                <a:latin typeface="Calibri"/>
              </a:rPr>
              <a:t>Catatan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577840"/>
            <a:ext cx="10853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25252"/>
                </a:solidFill>
                <a:latin typeface="Calibri"/>
              </a:rPr>
              <a:t>Pemeriksaan peran memakai pola “role cocok ATAU is_staff”, sehingga satu akun administrator dapat menjalankan seluruh modul. Menu navigasi ditampilkan sesuai peran, tetapi pemeriksaan sesungguhnya tetap dilakukan di sisi server pada setiap tampilan dan setiap aksi POST.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20116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8229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RINGKASAN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95728"/>
            <a:ext cx="2377440" cy="5486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0515600" cy="5029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Empat aktor bekerja di empat modul berbeda</a:t>
            </a:r>
            <a:r>
              <a:rPr sz="1100" b="0">
                <a:solidFill>
                  <a:srgbClr val="C6C6C6"/>
                </a:solidFill>
                <a:latin typeface="Calibri"/>
              </a:rPr>
              <a:t>  Pemohon → Komersil → Operasi → AOCH. Avsec hanya memverifikasi di luar alur.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73552"/>
            <a:ext cx="10515600" cy="5029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Blacklist diperiksa dua kali dan ditegakkan di penerbitan PAS</a:t>
            </a:r>
            <a:r>
              <a:rPr sz="1100" b="0">
                <a:solidFill>
                  <a:srgbClr val="C6C6C6"/>
                </a:solidFill>
                <a:latin typeface="Calibri"/>
              </a:rPr>
              <a:t>  NIK di daftar hitam = pengajuan tidak pernah dibuat.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03904"/>
            <a:ext cx="10515600" cy="5029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Bukti bayar punya tiga keputusan</a:t>
            </a:r>
            <a:r>
              <a:rPr sz="1100" b="0">
                <a:solidFill>
                  <a:srgbClr val="C6C6C6"/>
                </a:solidFill>
                <a:latin typeface="Calibri"/>
              </a:rPr>
              <a:t>  Valid melompat ke Menunggu Operasi; Tidak Valid mengembalikan; Koreksi membatalkan validasi.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34256"/>
            <a:ext cx="10515600" cy="5029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AOCH memegang satu-satunya catatan serah terima fisik</a:t>
            </a:r>
            <a:r>
              <a:rPr sz="1100" b="0">
                <a:solidFill>
                  <a:srgbClr val="C6C6C6"/>
                </a:solidFill>
                <a:latin typeface="Calibri"/>
              </a:rPr>
              <a:t>  Foto + tanda tangan elektronik + tanggal &amp; jam, untuk penyerahan maupun pengembalian.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4608"/>
            <a:ext cx="10515600" cy="5029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Nomor PAS boleh dipakai ulang, masa berlaku tidak</a:t>
            </a:r>
            <a:r>
              <a:rPr sz="1100" b="0">
                <a:solidFill>
                  <a:srgbClr val="C6C6C6"/>
                </a:solidFill>
                <a:latin typeface="Calibri"/>
              </a:rPr>
              <a:t>  Nomor kembali bebas setelah kartu dikembalikan; hak pakai PAS hanya satu hari kalender.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94960"/>
            <a:ext cx="10515600" cy="5029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Status di aplikasi berbeda dari denah alur lama</a:t>
            </a:r>
            <a:r>
              <a:rPr sz="1100" b="0">
                <a:solidFill>
                  <a:srgbClr val="C6C6C6"/>
                </a:solidFill>
                <a:latin typeface="Calibri"/>
              </a:rPr>
              <a:t>  Tujuh status pada denah lama sudah tidak dipakai sama sekali oleh kode.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Calibri"/>
              </a:rPr>
              <a:t>Dokumen ini dihasilkan oleh generate_proses_bisnis.py — ubah skripnya, bukan file presentasinya, bila alur bisnis berubah.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