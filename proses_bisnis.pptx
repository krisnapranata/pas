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Calibri"/>
              </a:rPr>
              <a:t>ALUR PROSES BISNIS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42316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C6C6C6"/>
                </a:solidFill>
                <a:latin typeface="Calibri"/>
              </a:rPr>
              <a:t>PAS Bandara — Passenger Assistance Service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291840"/>
            <a:ext cx="2377440" cy="54864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56616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FFFFFF"/>
                </a:solidFill>
                <a:latin typeface="Calibri"/>
              </a:rPr>
              <a:t>Dari Pengajuan Pemohon  →  Verifikasi  →  Penerbitan PAS</a:t>
            </a:r>
          </a:p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FFFFFF"/>
                </a:solidFill>
                <a:latin typeface="Calibri"/>
              </a:rPr>
              <a:t>→  Penyerahan  →  Pengembalian PAS Visitor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76072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C6C6C6"/>
                </a:solidFill>
                <a:latin typeface="Calibri"/>
              </a:rPr>
              <a:t>Aktor: Pemohon (PIC)  •  Komersil  •  Operasi  •  AOCH  •  Avsec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525252"/>
                </a:solidFill>
                <a:latin typeface="Calibri"/>
              </a:rPr>
              <a:t>PROSES BISNIS — KONTEKS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155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161616"/>
                </a:solidFill>
                <a:latin typeface="Calibri"/>
              </a:rPr>
              <a:t>Aktor &amp; Peran dalam Alur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11201400" cy="18288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292608" cy="731520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68680" y="1371600"/>
            <a:ext cx="2286000" cy="731520"/>
          </a:xfrm>
          <a:prstGeom prst="round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PEMOHON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37560" y="1371600"/>
            <a:ext cx="83210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61616"/>
                </a:solidFill>
                <a:latin typeface="Calibri"/>
              </a:rPr>
              <a:t>Mengajukan lewat form publik (tanpa wajib login): isi PIC penanggung jawab, pilih layanan, isi data pendamping, membayar &amp; mengunggah bukti bayar. Lacak status tanpa akun.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176272"/>
            <a:ext cx="292608" cy="731520"/>
          </a:xfrm>
          <a:prstGeom prst="rect">
            <a:avLst/>
          </a:prstGeom>
          <a:solidFill>
            <a:srgbClr val="24A1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68680" y="2176272"/>
            <a:ext cx="2286000" cy="731520"/>
          </a:xfrm>
          <a:prstGeom prst="roundRect">
            <a:avLst/>
          </a:prstGeom>
          <a:solidFill>
            <a:srgbClr val="24A1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KOMERSIL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2176272"/>
            <a:ext cx="83210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61616"/>
                </a:solidFill>
                <a:latin typeface="Calibri"/>
              </a:rPr>
              <a:t>Mengelola master layanan &amp; tarif; memvalidasi bukti pembayaran; meneruskan pengajuan yang valid ke Operasi.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980944"/>
            <a:ext cx="292608" cy="731520"/>
          </a:xfrm>
          <a:prstGeom prst="rect">
            <a:avLst/>
          </a:prstGeom>
          <a:solidFill>
            <a:srgbClr val="8A3F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68680" y="2980944"/>
            <a:ext cx="2286000" cy="731520"/>
          </a:xfrm>
          <a:prstGeom prst="roundRect">
            <a:avLst/>
          </a:prstGeom>
          <a:solidFill>
            <a:srgbClr val="8A3F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OPERASI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2980944"/>
            <a:ext cx="83210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61616"/>
                </a:solidFill>
                <a:latin typeface="Calibri"/>
              </a:rPr>
              <a:t>Mengelola daftar hitam (blacklist); mengecek ulang NIK &amp; nama; menerbitkan PAS Visitor; menginformasikan ke AOCH.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785615"/>
            <a:ext cx="292608" cy="731520"/>
          </a:xfrm>
          <a:prstGeom prst="rect">
            <a:avLst/>
          </a:prstGeom>
          <a:solidFill>
            <a:srgbClr val="009D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68680" y="3785615"/>
            <a:ext cx="2286000" cy="731520"/>
          </a:xfrm>
          <a:prstGeom prst="roundRect">
            <a:avLst/>
          </a:prstGeom>
          <a:solidFill>
            <a:srgbClr val="009D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AOCH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37560" y="3785615"/>
            <a:ext cx="83210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61616"/>
                </a:solidFill>
                <a:latin typeface="Calibri"/>
              </a:rPr>
              <a:t>Memasukkan nomor PAS Visitor untuk setiap pendamping yang diajukan.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4590288"/>
            <a:ext cx="292608" cy="731520"/>
          </a:xfrm>
          <a:prstGeom prst="rect">
            <a:avLst/>
          </a:prstGeom>
          <a:solidFill>
            <a:srgbClr val="DA1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68680" y="4590288"/>
            <a:ext cx="2286000" cy="731520"/>
          </a:xfrm>
          <a:prstGeom prst="roundRect">
            <a:avLst/>
          </a:prstGeom>
          <a:solidFill>
            <a:srgbClr val="DA1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AVSEC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37560" y="4590288"/>
            <a:ext cx="83210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61616"/>
                </a:solidFill>
                <a:latin typeface="Calibri"/>
              </a:rPr>
              <a:t>Mencatat penyerahan &amp; pengembalian fisik PAS (foto, tanda tangan elektronik, tanggal &amp; jam); verifikasi status PAS aktif/kedaluwarsa.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5394959"/>
            <a:ext cx="292608" cy="731520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68680" y="5394959"/>
            <a:ext cx="2286000" cy="731520"/>
          </a:xfrm>
          <a:prstGeom prst="roundRect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ADMINISTRATOR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37560" y="5394959"/>
            <a:ext cx="83210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61616"/>
                </a:solidFill>
                <a:latin typeface="Calibri"/>
              </a:rPr>
              <a:t>Kelola master &amp; akses penuh ke seluruh modul.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1">
                <a:solidFill>
                  <a:srgbClr val="525252"/>
                </a:solidFill>
                <a:latin typeface="Calibri"/>
              </a:rPr>
              <a:t>Alur Proses Bisnis PAS Bandara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25252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525252"/>
                </a:solidFill>
                <a:latin typeface="Calibri"/>
              </a:rPr>
              <a:t>ALUR UTAMA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155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161616"/>
                </a:solidFill>
                <a:latin typeface="Calibri"/>
              </a:rPr>
              <a:t>Ringkasan Alur: Pemohon → Penyerahan &amp; Pengembalian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11201400" cy="18288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344168"/>
            <a:ext cx="1371600" cy="658368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344168"/>
            <a:ext cx="12801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PEMOHON</a:t>
            </a:r>
          </a:p>
        </p:txBody>
      </p:sp>
      <p:sp>
        <p:nvSpPr>
          <p:cNvPr id="8" name="Rectangle 7"/>
          <p:cNvSpPr/>
          <p:nvPr/>
        </p:nvSpPr>
        <p:spPr>
          <a:xfrm>
            <a:off x="1874519" y="1344168"/>
            <a:ext cx="9829800" cy="658368"/>
          </a:xfrm>
          <a:prstGeom prst="rect">
            <a:avLst/>
          </a:prstGeom>
          <a:solidFill>
            <a:srgbClr val="F4F4F4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2898648"/>
            <a:ext cx="1371600" cy="658368"/>
          </a:xfrm>
          <a:prstGeom prst="rect">
            <a:avLst/>
          </a:prstGeom>
          <a:solidFill>
            <a:srgbClr val="24A1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2898648"/>
            <a:ext cx="12801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KOMERSIL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74519" y="2898648"/>
            <a:ext cx="9829800" cy="658368"/>
          </a:xfrm>
          <a:prstGeom prst="rect">
            <a:avLst/>
          </a:prstGeom>
          <a:solidFill>
            <a:srgbClr val="F4F4F4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995928"/>
            <a:ext cx="1371600" cy="658368"/>
          </a:xfrm>
          <a:prstGeom prst="rect">
            <a:avLst/>
          </a:prstGeom>
          <a:solidFill>
            <a:srgbClr val="8A3F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3995928"/>
            <a:ext cx="12801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OPERASI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74519" y="3995928"/>
            <a:ext cx="9829800" cy="658368"/>
          </a:xfrm>
          <a:prstGeom prst="rect">
            <a:avLst/>
          </a:prstGeom>
          <a:solidFill>
            <a:srgbClr val="F4F4F4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5093208"/>
            <a:ext cx="1371600" cy="658368"/>
          </a:xfrm>
          <a:prstGeom prst="rect">
            <a:avLst/>
          </a:prstGeom>
          <a:solidFill>
            <a:srgbClr val="009D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5093208"/>
            <a:ext cx="12801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AOCH / AVSEC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74519" y="5093208"/>
            <a:ext cx="9829800" cy="658368"/>
          </a:xfrm>
          <a:prstGeom prst="rect">
            <a:avLst/>
          </a:prstGeom>
          <a:solidFill>
            <a:srgbClr val="F4F4F4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74519" y="1170432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525252"/>
                </a:solidFill>
                <a:latin typeface="Calibri"/>
              </a:rPr>
              <a:t>PENGAJUAN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1170432"/>
            <a:ext cx="21488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525252"/>
                </a:solidFill>
                <a:latin typeface="Calibri"/>
              </a:rPr>
              <a:t>PEMBAYARAN &amp; VERIFIKASI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1170432"/>
            <a:ext cx="21488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525252"/>
                </a:solidFill>
                <a:latin typeface="Calibri"/>
              </a:rPr>
              <a:t>PENERBITAN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15400" y="1170432"/>
            <a:ext cx="27889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525252"/>
                </a:solidFill>
                <a:latin typeface="Calibri"/>
              </a:rPr>
              <a:t>SERAH TERIMA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965960" y="1389888"/>
            <a:ext cx="1600200" cy="512064"/>
          </a:xfrm>
          <a:prstGeom prst="round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Buka Form Pengajuan</a:t>
            </a:r>
          </a:p>
          <a:p>
            <a:pPr algn="ctr"/>
            <a:r>
              <a:rPr sz="750" b="0">
                <a:solidFill>
                  <a:srgbClr val="FFFFFF"/>
                </a:solidFill>
                <a:latin typeface="Calibri"/>
              </a:rPr>
              <a:t>publik, tanpa login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3566160" y="1499616"/>
            <a:ext cx="256032" cy="256032"/>
          </a:xfrm>
          <a:prstGeom prst="rightArrow">
            <a:avLst/>
          </a:prstGeom>
          <a:solidFill>
            <a:srgbClr val="6C75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822191" y="1389888"/>
            <a:ext cx="1097280" cy="512064"/>
          </a:xfrm>
          <a:prstGeom prst="round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Isi Form</a:t>
            </a:r>
          </a:p>
          <a:p>
            <a:pPr algn="ctr"/>
            <a:r>
              <a:rPr sz="750" b="0">
                <a:solidFill>
                  <a:srgbClr val="FFFFFF"/>
                </a:solidFill>
                <a:latin typeface="Calibri"/>
              </a:rPr>
              <a:t>layanan + pendamping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919472" y="1389888"/>
            <a:ext cx="1600200" cy="512064"/>
          </a:xfrm>
          <a:prstGeom prst="roundRect">
            <a:avLst/>
          </a:prstGeom>
          <a:solidFill>
            <a:srgbClr val="6C75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Kirim → Cek Blacklist NIK</a:t>
            </a:r>
          </a:p>
          <a:p>
            <a:pPr algn="ctr"/>
            <a:r>
              <a:rPr sz="750" b="0">
                <a:solidFill>
                  <a:srgbClr val="FFFFFF"/>
                </a:solidFill>
                <a:latin typeface="Calibri"/>
              </a:rPr>
              <a:t>sistem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6519672" y="1499616"/>
            <a:ext cx="256032" cy="256032"/>
          </a:xfrm>
          <a:prstGeom prst="rightArrow">
            <a:avLst/>
          </a:prstGeom>
          <a:solidFill>
            <a:srgbClr val="6C75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775704" y="1389888"/>
            <a:ext cx="1463040" cy="512064"/>
          </a:xfrm>
          <a:prstGeom prst="round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Bayar &amp; Upload Bukti</a:t>
            </a:r>
          </a:p>
          <a:p>
            <a:pPr algn="ctr"/>
            <a:r>
              <a:rPr sz="750" b="0">
                <a:solidFill>
                  <a:srgbClr val="FFFFFF"/>
                </a:solidFill>
                <a:latin typeface="Calibri"/>
              </a:rPr>
              <a:t>QRIS/VA/Manual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8238744" y="1499616"/>
            <a:ext cx="256032" cy="256032"/>
          </a:xfrm>
          <a:prstGeom prst="rightArrow">
            <a:avLst/>
          </a:prstGeom>
          <a:solidFill>
            <a:srgbClr val="6C75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965960" y="2944368"/>
            <a:ext cx="2377440" cy="512064"/>
          </a:xfrm>
          <a:prstGeom prst="roundRect">
            <a:avLst/>
          </a:prstGeom>
          <a:solidFill>
            <a:srgbClr val="24A1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Validasi Bukti Bayar</a:t>
            </a:r>
          </a:p>
          <a:p>
            <a:pPr algn="ctr"/>
            <a:r>
              <a:rPr sz="750" b="0">
                <a:solidFill>
                  <a:srgbClr val="FFFFFF"/>
                </a:solidFill>
                <a:latin typeface="Calibri"/>
              </a:rPr>
              <a:t>valid → lanjut ke Operasi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4343400" y="3054096"/>
            <a:ext cx="256032" cy="256032"/>
          </a:xfrm>
          <a:prstGeom prst="rightArrow">
            <a:avLst/>
          </a:prstGeom>
          <a:solidFill>
            <a:srgbClr val="6C75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1965960" y="4041648"/>
            <a:ext cx="2377440" cy="512064"/>
          </a:xfrm>
          <a:prstGeom prst="roundRect">
            <a:avLst/>
          </a:prstGeom>
          <a:solidFill>
            <a:srgbClr val="8A3F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Cek Ulang Blacklist</a:t>
            </a:r>
          </a:p>
          <a:p>
            <a:pPr algn="ctr"/>
            <a:r>
              <a:rPr sz="750" b="0">
                <a:solidFill>
                  <a:srgbClr val="FFFFFF"/>
                </a:solidFill>
                <a:latin typeface="Calibri"/>
              </a:rPr>
              <a:t>NIK &amp; nama pendamping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4343400" y="4151376"/>
            <a:ext cx="256032" cy="256032"/>
          </a:xfrm>
          <a:prstGeom prst="rightArrow">
            <a:avLst/>
          </a:prstGeom>
          <a:solidFill>
            <a:srgbClr val="6C75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599432" y="4041648"/>
            <a:ext cx="2011680" cy="512064"/>
          </a:xfrm>
          <a:prstGeom prst="roundRect">
            <a:avLst/>
          </a:prstGeom>
          <a:solidFill>
            <a:srgbClr val="8A3F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Terbitkan PAS Visitor</a:t>
            </a:r>
          </a:p>
          <a:p>
            <a:pPr algn="ctr"/>
            <a:r>
              <a:rPr sz="750" b="0">
                <a:solidFill>
                  <a:srgbClr val="FFFFFF"/>
                </a:solidFill>
                <a:latin typeface="Calibri"/>
              </a:rPr>
              <a:t>inform ke AOCH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6611112" y="4151376"/>
            <a:ext cx="256032" cy="256032"/>
          </a:xfrm>
          <a:prstGeom prst="rightArrow">
            <a:avLst/>
          </a:prstGeom>
          <a:solidFill>
            <a:srgbClr val="6C75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965960" y="5138928"/>
            <a:ext cx="2377440" cy="512064"/>
          </a:xfrm>
          <a:prstGeom prst="roundRect">
            <a:avLst/>
          </a:prstGeom>
          <a:solidFill>
            <a:srgbClr val="009D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Input No. PAS (AOCH)</a:t>
            </a:r>
          </a:p>
          <a:p>
            <a:pPr algn="ctr"/>
            <a:r>
              <a:rPr sz="750" b="0">
                <a:solidFill>
                  <a:srgbClr val="FFFFFF"/>
                </a:solidFill>
                <a:latin typeface="Calibri"/>
              </a:rPr>
              <a:t>per pendamping</a:t>
            </a:r>
          </a:p>
        </p:txBody>
      </p:sp>
      <p:sp>
        <p:nvSpPr>
          <p:cNvPr id="36" name="Right Arrow 35"/>
          <p:cNvSpPr/>
          <p:nvPr/>
        </p:nvSpPr>
        <p:spPr>
          <a:xfrm>
            <a:off x="4343400" y="5248656"/>
            <a:ext cx="256032" cy="256032"/>
          </a:xfrm>
          <a:prstGeom prst="rightArrow">
            <a:avLst/>
          </a:prstGeom>
          <a:solidFill>
            <a:srgbClr val="6C75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4599432" y="5138928"/>
            <a:ext cx="2011680" cy="512064"/>
          </a:xfrm>
          <a:prstGeom prst="roundRect">
            <a:avLst/>
          </a:prstGeom>
          <a:solidFill>
            <a:srgbClr val="DA1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Penyerahan PAS (Avsec)</a:t>
            </a:r>
          </a:p>
          <a:p>
            <a:pPr algn="ctr"/>
            <a:r>
              <a:rPr sz="750" b="0">
                <a:solidFill>
                  <a:srgbClr val="FFFFFF"/>
                </a:solidFill>
                <a:latin typeface="Calibri"/>
              </a:rPr>
              <a:t>foto, TTD, tanggal &amp; jam</a:t>
            </a:r>
          </a:p>
        </p:txBody>
      </p:sp>
      <p:sp>
        <p:nvSpPr>
          <p:cNvPr id="38" name="Right Arrow 37"/>
          <p:cNvSpPr/>
          <p:nvPr/>
        </p:nvSpPr>
        <p:spPr>
          <a:xfrm>
            <a:off x="6611112" y="5248656"/>
            <a:ext cx="256032" cy="256032"/>
          </a:xfrm>
          <a:prstGeom prst="rightArrow">
            <a:avLst/>
          </a:prstGeom>
          <a:solidFill>
            <a:srgbClr val="6C75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6867144" y="5138928"/>
            <a:ext cx="2011680" cy="512064"/>
          </a:xfrm>
          <a:prstGeom prst="roundRect">
            <a:avLst/>
          </a:prstGeom>
          <a:solidFill>
            <a:srgbClr val="DA1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Pengembalian PAS (Avsec)</a:t>
            </a:r>
          </a:p>
          <a:p>
            <a:pPr algn="ctr"/>
            <a:r>
              <a:rPr sz="750" b="0">
                <a:solidFill>
                  <a:srgbClr val="FFFFFF"/>
                </a:solidFill>
                <a:latin typeface="Calibri"/>
              </a:rPr>
              <a:t>status DIKEMBALIKAN</a:t>
            </a:r>
          </a:p>
        </p:txBody>
      </p:sp>
      <p:sp>
        <p:nvSpPr>
          <p:cNvPr id="40" name="Right Arrow 39"/>
          <p:cNvSpPr/>
          <p:nvPr/>
        </p:nvSpPr>
        <p:spPr>
          <a:xfrm>
            <a:off x="8878824" y="5248656"/>
            <a:ext cx="256032" cy="256032"/>
          </a:xfrm>
          <a:prstGeom prst="rightArrow">
            <a:avLst/>
          </a:prstGeom>
          <a:solidFill>
            <a:srgbClr val="6C75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9134856" y="5138928"/>
            <a:ext cx="1371600" cy="512064"/>
          </a:xfrm>
          <a:prstGeom prst="roundRect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SELESAI</a:t>
            </a:r>
          </a:p>
        </p:txBody>
      </p:sp>
      <p:sp>
        <p:nvSpPr>
          <p:cNvPr id="42" name="Down Arrow 41"/>
          <p:cNvSpPr/>
          <p:nvPr/>
        </p:nvSpPr>
        <p:spPr>
          <a:xfrm>
            <a:off x="4663440" y="1847088"/>
            <a:ext cx="201168" cy="987552"/>
          </a:xfrm>
          <a:prstGeom prst="downArrow">
            <a:avLst/>
          </a:prstGeom>
          <a:solidFill>
            <a:srgbClr val="6C75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Down Arrow 42"/>
          <p:cNvSpPr/>
          <p:nvPr/>
        </p:nvSpPr>
        <p:spPr>
          <a:xfrm>
            <a:off x="4663440" y="3401568"/>
            <a:ext cx="201168" cy="530351"/>
          </a:xfrm>
          <a:prstGeom prst="downArrow">
            <a:avLst/>
          </a:prstGeom>
          <a:solidFill>
            <a:srgbClr val="6C75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Down Arrow 43"/>
          <p:cNvSpPr/>
          <p:nvPr/>
        </p:nvSpPr>
        <p:spPr>
          <a:xfrm>
            <a:off x="6675120" y="4498848"/>
            <a:ext cx="201168" cy="566928"/>
          </a:xfrm>
          <a:prstGeom prst="downArrow">
            <a:avLst/>
          </a:prstGeom>
          <a:solidFill>
            <a:srgbClr val="6C75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1">
                <a:solidFill>
                  <a:srgbClr val="525252"/>
                </a:solidFill>
                <a:latin typeface="Calibri"/>
              </a:rPr>
              <a:t>Alur Proses Bisnis PAS Bandara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25252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525252"/>
                </a:solidFill>
                <a:latin typeface="Calibri"/>
              </a:rPr>
              <a:t>FASE 1 — PENGAJUAN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155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161616"/>
                </a:solidFill>
                <a:latin typeface="Calibri"/>
              </a:rPr>
              <a:t>Pemohon: Buat Pengajuan (Publik) &amp; Cek Blacklist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11201400" cy="18288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371600"/>
            <a:ext cx="2377440" cy="731520"/>
          </a:xfrm>
          <a:prstGeom prst="round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Buka Form Pengajuan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publik — tanpa login/registrasi</a:t>
            </a:r>
          </a:p>
        </p:txBody>
      </p:sp>
      <p:sp>
        <p:nvSpPr>
          <p:cNvPr id="7" name="Down Arrow 6"/>
          <p:cNvSpPr/>
          <p:nvPr/>
        </p:nvSpPr>
        <p:spPr>
          <a:xfrm>
            <a:off x="2157984" y="2103120"/>
            <a:ext cx="256032" cy="365760"/>
          </a:xfrm>
          <a:prstGeom prst="downArrow">
            <a:avLst/>
          </a:prstGeom>
          <a:solidFill>
            <a:srgbClr val="6C75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97280" y="2468880"/>
            <a:ext cx="2377440" cy="731520"/>
          </a:xfrm>
          <a:prstGeom prst="roundRect">
            <a:avLst/>
          </a:prstGeom>
          <a:solidFill>
            <a:srgbClr val="6C75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Info Batasan Area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departure/arrival muncul sebelum form</a:t>
            </a:r>
          </a:p>
        </p:txBody>
      </p:sp>
      <p:sp>
        <p:nvSpPr>
          <p:cNvPr id="9" name="Down Arrow 8"/>
          <p:cNvSpPr/>
          <p:nvPr/>
        </p:nvSpPr>
        <p:spPr>
          <a:xfrm>
            <a:off x="2157984" y="3200400"/>
            <a:ext cx="256032" cy="365760"/>
          </a:xfrm>
          <a:prstGeom prst="downArrow">
            <a:avLst/>
          </a:prstGeom>
          <a:solidFill>
            <a:srgbClr val="6C75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97280" y="3566160"/>
            <a:ext cx="2377440" cy="777240"/>
          </a:xfrm>
          <a:prstGeom prst="round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Isi Form Pengajuan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PIC + pilih layanan (radio + harga) + data pendamping (nama, NIK, identitas)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2157984" y="4343400"/>
            <a:ext cx="256032" cy="365760"/>
          </a:xfrm>
          <a:prstGeom prst="downArrow">
            <a:avLst/>
          </a:prstGeom>
          <a:solidFill>
            <a:srgbClr val="6C75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97280" y="4709160"/>
            <a:ext cx="2377440" cy="731520"/>
          </a:xfrm>
          <a:prstGeom prst="round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Kirim Pengajuan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sistem cek NIK blacklist</a:t>
            </a:r>
          </a:p>
        </p:txBody>
      </p:sp>
      <p:sp>
        <p:nvSpPr>
          <p:cNvPr id="13" name="Diamond 12"/>
          <p:cNvSpPr/>
          <p:nvPr/>
        </p:nvSpPr>
        <p:spPr>
          <a:xfrm>
            <a:off x="5120640" y="4480560"/>
            <a:ext cx="2377440" cy="1280160"/>
          </a:xfrm>
          <a:prstGeom prst="diamond">
            <a:avLst/>
          </a:prstGeom>
          <a:solidFill>
            <a:srgbClr val="6C75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Ada NIK di Blacklist?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474720" y="5029200"/>
            <a:ext cx="1645919" cy="256032"/>
          </a:xfrm>
          <a:prstGeom prst="rightArrow">
            <a:avLst/>
          </a:prstGeom>
          <a:solidFill>
            <a:srgbClr val="6C75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863840" y="3657600"/>
            <a:ext cx="2103120" cy="731520"/>
          </a:xfrm>
          <a:prstGeom prst="roundRect">
            <a:avLst/>
          </a:prstGeom>
          <a:solidFill>
            <a:srgbClr val="DA1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DITOLAK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notif: NIK tidak bisa masuk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0" y="3977639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DA1E28"/>
                </a:solidFill>
                <a:latin typeface="Calibri"/>
              </a:rPr>
              <a:t>Ya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6309360" y="3977639"/>
            <a:ext cx="1554480" cy="256032"/>
          </a:xfrm>
          <a:prstGeom prst="rightArrow">
            <a:avLst/>
          </a:prstGeom>
          <a:solidFill>
            <a:srgbClr val="6C75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863840" y="5394960"/>
            <a:ext cx="2103120" cy="731520"/>
          </a:xfrm>
          <a:prstGeom prst="roundRect">
            <a:avLst/>
          </a:prstGeom>
          <a:solidFill>
            <a:srgbClr val="24A1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LOLOS → Pembayaran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lanjut ke Fase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0" y="521208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4A148"/>
                </a:solidFill>
                <a:latin typeface="Calibri"/>
              </a:rPr>
              <a:t>Tidak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6309360" y="5349240"/>
            <a:ext cx="1554480" cy="256032"/>
          </a:xfrm>
          <a:prstGeom prst="rightArrow">
            <a:avLst/>
          </a:prstGeom>
          <a:solidFill>
            <a:srgbClr val="6C75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own Arrow 20"/>
          <p:cNvSpPr/>
          <p:nvPr/>
        </p:nvSpPr>
        <p:spPr>
          <a:xfrm>
            <a:off x="6181344" y="5760720"/>
            <a:ext cx="256032" cy="320040"/>
          </a:xfrm>
          <a:prstGeom prst="downArrow">
            <a:avLst/>
          </a:prstGeom>
          <a:solidFill>
            <a:srgbClr val="6C75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149840" y="3657600"/>
            <a:ext cx="1737360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525252"/>
                </a:solidFill>
                <a:latin typeface="Calibri"/>
              </a:rPr>
              <a:t>Form pengajuan:</a:t>
            </a:r>
          </a:p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25252"/>
                </a:solidFill>
                <a:latin typeface="Calibri"/>
              </a:rPr>
              <a:t>• PIC penanggung jawab</a:t>
            </a:r>
          </a:p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25252"/>
                </a:solidFill>
                <a:latin typeface="Calibri"/>
              </a:rPr>
              <a:t>• Layanan (radio button, tampil nama &amp; harga)</a:t>
            </a:r>
          </a:p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25252"/>
                </a:solidFill>
                <a:latin typeface="Calibri"/>
              </a:rPr>
              <a:t>• Dokumen pendamping: nama, NIK, upload identitas (PDF/gambar)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525252"/>
                </a:solidFill>
                <a:latin typeface="Calibri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525252"/>
                </a:solidFill>
                <a:latin typeface="Calibri"/>
              </a:rPr>
              <a:t>Lacak status tanpa akun:</a:t>
            </a:r>
          </a:p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25252"/>
                </a:solidFill>
                <a:latin typeface="Calibri"/>
              </a:rPr>
              <a:t>• Via NIK PIC atau nomor pengajuan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1">
                <a:solidFill>
                  <a:srgbClr val="525252"/>
                </a:solidFill>
                <a:latin typeface="Calibri"/>
              </a:rPr>
              <a:t>Alur Proses Bisnis PAS Bandara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25252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525252"/>
                </a:solidFill>
                <a:latin typeface="Calibri"/>
              </a:rPr>
              <a:t>FASE 2 — PEMBAYARAN &amp; VERIFIKASI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155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161616"/>
                </a:solidFill>
                <a:latin typeface="Calibri"/>
              </a:rPr>
              <a:t>Pemohon Membayar → Komersil Memvalidasi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11201400" cy="18288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371600"/>
            <a:ext cx="2743200" cy="731520"/>
          </a:xfrm>
          <a:prstGeom prst="round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Pembayaran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pilih metode (QRIS/VA/Manual/Cash)</a:t>
            </a:r>
          </a:p>
        </p:txBody>
      </p:sp>
      <p:sp>
        <p:nvSpPr>
          <p:cNvPr id="7" name="Down Arrow 6"/>
          <p:cNvSpPr/>
          <p:nvPr/>
        </p:nvSpPr>
        <p:spPr>
          <a:xfrm>
            <a:off x="2340864" y="2103120"/>
            <a:ext cx="256032" cy="365760"/>
          </a:xfrm>
          <a:prstGeom prst="downArrow">
            <a:avLst/>
          </a:prstGeom>
          <a:solidFill>
            <a:srgbClr val="6C75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97280" y="2468880"/>
            <a:ext cx="2743200" cy="731520"/>
          </a:xfrm>
          <a:prstGeom prst="round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Upload Bukti Bayar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status: bukti terunggah</a:t>
            </a:r>
          </a:p>
        </p:txBody>
      </p:sp>
      <p:sp>
        <p:nvSpPr>
          <p:cNvPr id="9" name="Down Arrow 8"/>
          <p:cNvSpPr/>
          <p:nvPr/>
        </p:nvSpPr>
        <p:spPr>
          <a:xfrm>
            <a:off x="2340864" y="3200400"/>
            <a:ext cx="256032" cy="365760"/>
          </a:xfrm>
          <a:prstGeom prst="downArrow">
            <a:avLst/>
          </a:prstGeom>
          <a:solidFill>
            <a:srgbClr val="6C75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97280" y="3566160"/>
            <a:ext cx="2743200" cy="731520"/>
          </a:xfrm>
          <a:prstGeom prst="roundRect">
            <a:avLst/>
          </a:prstGeom>
          <a:solidFill>
            <a:srgbClr val="24A1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Komersil Validasi Bukti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cek nominal &amp; keaslian bukti</a:t>
            </a:r>
          </a:p>
        </p:txBody>
      </p:sp>
      <p:sp>
        <p:nvSpPr>
          <p:cNvPr id="11" name="Diamond 10"/>
          <p:cNvSpPr/>
          <p:nvPr/>
        </p:nvSpPr>
        <p:spPr>
          <a:xfrm>
            <a:off x="5303520" y="3474720"/>
            <a:ext cx="2286000" cy="1188720"/>
          </a:xfrm>
          <a:prstGeom prst="diamond">
            <a:avLst/>
          </a:prstGeom>
          <a:solidFill>
            <a:srgbClr val="6C75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Bukti Valid?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840480" y="3931920"/>
            <a:ext cx="1463039" cy="256032"/>
          </a:xfrm>
          <a:prstGeom prst="rightArrow">
            <a:avLst/>
          </a:prstGeom>
          <a:solidFill>
            <a:srgbClr val="6C75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955279" y="2377440"/>
            <a:ext cx="2103120" cy="731520"/>
          </a:xfrm>
          <a:prstGeom prst="roundRect">
            <a:avLst/>
          </a:prstGeom>
          <a:solidFill>
            <a:srgbClr val="DA1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INVALID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pemohon upload ulang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5603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DA1E28"/>
                </a:solidFill>
                <a:latin typeface="Calibri"/>
              </a:rPr>
              <a:t>Tidak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6446520" y="2880360"/>
            <a:ext cx="1508760" cy="256032"/>
          </a:xfrm>
          <a:prstGeom prst="rightArrow">
            <a:avLst/>
          </a:prstGeom>
          <a:solidFill>
            <a:srgbClr val="6C75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own Arrow 15"/>
          <p:cNvSpPr/>
          <p:nvPr/>
        </p:nvSpPr>
        <p:spPr>
          <a:xfrm>
            <a:off x="8878824" y="1828800"/>
            <a:ext cx="256032" cy="548640"/>
          </a:xfrm>
          <a:prstGeom prst="downArrow">
            <a:avLst/>
          </a:prstGeom>
          <a:solidFill>
            <a:srgbClr val="6C75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955279" y="4297680"/>
            <a:ext cx="2103120" cy="731520"/>
          </a:xfrm>
          <a:prstGeom prst="roundRect">
            <a:avLst/>
          </a:prstGeom>
          <a:solidFill>
            <a:srgbClr val="24A1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VALID → Lanjut Operasi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Fase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43484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4A148"/>
                </a:solidFill>
                <a:latin typeface="Calibri"/>
              </a:rPr>
              <a:t>Valid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6446520" y="4572000"/>
            <a:ext cx="1508760" cy="256032"/>
          </a:xfrm>
          <a:prstGeom prst="rightArrow">
            <a:avLst/>
          </a:prstGeom>
          <a:solidFill>
            <a:srgbClr val="6C75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own Arrow 19"/>
          <p:cNvSpPr/>
          <p:nvPr/>
        </p:nvSpPr>
        <p:spPr>
          <a:xfrm>
            <a:off x="6318504" y="4663440"/>
            <a:ext cx="256032" cy="320040"/>
          </a:xfrm>
          <a:prstGeom prst="downArrow">
            <a:avLst/>
          </a:prstGeom>
          <a:solidFill>
            <a:srgbClr val="6C75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149840" y="2377440"/>
            <a:ext cx="173736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525252"/>
                </a:solidFill>
                <a:latin typeface="Calibri"/>
              </a:rPr>
              <a:t>Kompetensi Komersil:</a:t>
            </a:r>
          </a:p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25252"/>
                </a:solidFill>
                <a:latin typeface="Calibri"/>
              </a:rPr>
              <a:t>• Buat / edit / hapus layanan &amp; tarif</a:t>
            </a:r>
          </a:p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25252"/>
                </a:solidFill>
                <a:latin typeface="Calibri"/>
              </a:rPr>
              <a:t>• Cek status pembayaran &amp; validasi bukti</a:t>
            </a:r>
          </a:p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25252"/>
                </a:solidFill>
                <a:latin typeface="Calibri"/>
              </a:rPr>
              <a:t>• Teruskan pengajuan valid ke Operasi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1">
                <a:solidFill>
                  <a:srgbClr val="525252"/>
                </a:solidFill>
                <a:latin typeface="Calibri"/>
              </a:rPr>
              <a:t>Alur Proses Bisnis PAS Bandara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25252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525252"/>
                </a:solidFill>
                <a:latin typeface="Calibri"/>
              </a:rPr>
              <a:t>FASE 3 — PENERBITAN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155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161616"/>
                </a:solidFill>
                <a:latin typeface="Calibri"/>
              </a:rPr>
              <a:t>Operasi: Cek Ulang Blacklist &amp; Terbitkan PAS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11201400" cy="18288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371600"/>
            <a:ext cx="2743200" cy="731520"/>
          </a:xfrm>
          <a:prstGeom prst="roundRect">
            <a:avLst/>
          </a:prstGeom>
          <a:solidFill>
            <a:srgbClr val="24A1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Pengajuan dari Komersil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status: disetujui komersil</a:t>
            </a:r>
          </a:p>
        </p:txBody>
      </p:sp>
      <p:sp>
        <p:nvSpPr>
          <p:cNvPr id="7" name="Down Arrow 6"/>
          <p:cNvSpPr/>
          <p:nvPr/>
        </p:nvSpPr>
        <p:spPr>
          <a:xfrm>
            <a:off x="2340864" y="2103120"/>
            <a:ext cx="256032" cy="365760"/>
          </a:xfrm>
          <a:prstGeom prst="downArrow">
            <a:avLst/>
          </a:prstGeom>
          <a:solidFill>
            <a:srgbClr val="6C75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97280" y="2468880"/>
            <a:ext cx="2743200" cy="731520"/>
          </a:xfrm>
          <a:prstGeom prst="roundRect">
            <a:avLst/>
          </a:prstGeom>
          <a:solidFill>
            <a:srgbClr val="8A3F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Operasi Cek Ulang Blacklist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NIK &amp; nama pendamping</a:t>
            </a:r>
          </a:p>
        </p:txBody>
      </p:sp>
      <p:sp>
        <p:nvSpPr>
          <p:cNvPr id="9" name="Diamond 8"/>
          <p:cNvSpPr/>
          <p:nvPr/>
        </p:nvSpPr>
        <p:spPr>
          <a:xfrm>
            <a:off x="5303520" y="2377440"/>
            <a:ext cx="2286000" cy="1188720"/>
          </a:xfrm>
          <a:prstGeom prst="diamond">
            <a:avLst/>
          </a:prstGeom>
          <a:solidFill>
            <a:srgbClr val="6C75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Lolos Blacklist?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840480" y="2834640"/>
            <a:ext cx="1463039" cy="256032"/>
          </a:xfrm>
          <a:prstGeom prst="rightArrow">
            <a:avLst/>
          </a:prstGeom>
          <a:solidFill>
            <a:srgbClr val="6C75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955279" y="1463040"/>
            <a:ext cx="2103120" cy="731520"/>
          </a:xfrm>
          <a:prstGeom prst="roundRect">
            <a:avLst/>
          </a:prstGeom>
          <a:solidFill>
            <a:srgbClr val="DA1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DITOLAK OPERASI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terdaftar blacklist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60020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DA1E28"/>
                </a:solidFill>
                <a:latin typeface="Calibri"/>
              </a:rPr>
              <a:t>Tidak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6446520" y="1737360"/>
            <a:ext cx="1508760" cy="256032"/>
          </a:xfrm>
          <a:prstGeom prst="rightArrow">
            <a:avLst/>
          </a:prstGeom>
          <a:solidFill>
            <a:srgbClr val="6C75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955279" y="3200400"/>
            <a:ext cx="2103120" cy="731520"/>
          </a:xfrm>
          <a:prstGeom prst="roundRect">
            <a:avLst/>
          </a:prstGeom>
          <a:solidFill>
            <a:srgbClr val="8A3F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Terbitkan PAS Visitor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status: PAS_TERBIT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33756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4A148"/>
                </a:solidFill>
                <a:latin typeface="Calibri"/>
              </a:rPr>
              <a:t>Ya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6446520" y="3474720"/>
            <a:ext cx="1508760" cy="256032"/>
          </a:xfrm>
          <a:prstGeom prst="rightArrow">
            <a:avLst/>
          </a:prstGeom>
          <a:solidFill>
            <a:srgbClr val="6C75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own Arrow 16"/>
          <p:cNvSpPr/>
          <p:nvPr/>
        </p:nvSpPr>
        <p:spPr>
          <a:xfrm>
            <a:off x="6318504" y="3566160"/>
            <a:ext cx="256032" cy="320040"/>
          </a:xfrm>
          <a:prstGeom prst="downArrow">
            <a:avLst/>
          </a:prstGeom>
          <a:solidFill>
            <a:srgbClr val="6C75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955279" y="4389120"/>
            <a:ext cx="2103120" cy="731520"/>
          </a:xfrm>
          <a:prstGeom prst="roundRect">
            <a:avLst/>
          </a:prstGeom>
          <a:solidFill>
            <a:srgbClr val="009D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Informasi ke AOCH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notifikasi pengajuan siap serah terima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8878824" y="3931920"/>
            <a:ext cx="256032" cy="457200"/>
          </a:xfrm>
          <a:prstGeom prst="downArrow">
            <a:avLst/>
          </a:prstGeom>
          <a:solidFill>
            <a:srgbClr val="6C75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0" y="1463040"/>
            <a:ext cx="173736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525252"/>
                </a:solidFill>
                <a:latin typeface="Calibri"/>
              </a:rPr>
              <a:t>Kompetensi Operasi:</a:t>
            </a:r>
          </a:p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25252"/>
                </a:solidFill>
                <a:latin typeface="Calibri"/>
              </a:rPr>
              <a:t>• Buat / edit / hapus NIK &amp; nama blacklist</a:t>
            </a:r>
          </a:p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25252"/>
                </a:solidFill>
                <a:latin typeface="Calibri"/>
              </a:rPr>
              <a:t>• Cek ulang NIK &amp; nama lolos blacklist</a:t>
            </a:r>
          </a:p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25252"/>
                </a:solidFill>
                <a:latin typeface="Calibri"/>
              </a:rPr>
              <a:t>• Terbitkan PAS untuk diinformasikan ke AOCH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1">
                <a:solidFill>
                  <a:srgbClr val="525252"/>
                </a:solidFill>
                <a:latin typeface="Calibri"/>
              </a:rPr>
              <a:t>Alur Proses Bisnis PAS Bandara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25252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525252"/>
                </a:solidFill>
                <a:latin typeface="Calibri"/>
              </a:rPr>
              <a:t>FASE 4 — SERAH TERIMA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155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161616"/>
                </a:solidFill>
                <a:latin typeface="Calibri"/>
              </a:rPr>
              <a:t>AOCH &amp; Avsec: Nomor PAS, Penyerahan &amp; Pengembalian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11201400" cy="18288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371600"/>
            <a:ext cx="2926080" cy="731520"/>
          </a:xfrm>
          <a:prstGeom prst="roundRect">
            <a:avLst/>
          </a:prstGeom>
          <a:solidFill>
            <a:srgbClr val="009D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AOCH: Input No. PAS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nomor PAS per pendamping</a:t>
            </a:r>
          </a:p>
        </p:txBody>
      </p:sp>
      <p:sp>
        <p:nvSpPr>
          <p:cNvPr id="7" name="Down Arrow 6"/>
          <p:cNvSpPr/>
          <p:nvPr/>
        </p:nvSpPr>
        <p:spPr>
          <a:xfrm>
            <a:off x="2157984" y="2103120"/>
            <a:ext cx="256032" cy="365760"/>
          </a:xfrm>
          <a:prstGeom prst="downArrow">
            <a:avLst/>
          </a:prstGeom>
          <a:solidFill>
            <a:srgbClr val="6C75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2468880"/>
            <a:ext cx="2926080" cy="777240"/>
          </a:xfrm>
          <a:prstGeom prst="roundRect">
            <a:avLst/>
          </a:prstGeom>
          <a:solidFill>
            <a:srgbClr val="DA1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Avsec: Penyerahan PAS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foto orang, TTD elektronik, tanggal &amp; jam penyerahan</a:t>
            </a:r>
          </a:p>
        </p:txBody>
      </p:sp>
      <p:sp>
        <p:nvSpPr>
          <p:cNvPr id="9" name="Down Arrow 8"/>
          <p:cNvSpPr/>
          <p:nvPr/>
        </p:nvSpPr>
        <p:spPr>
          <a:xfrm>
            <a:off x="2157984" y="3246120"/>
            <a:ext cx="256032" cy="365760"/>
          </a:xfrm>
          <a:prstGeom prst="downArrow">
            <a:avLst/>
          </a:prstGeom>
          <a:solidFill>
            <a:srgbClr val="6C75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22960" y="3611880"/>
            <a:ext cx="2926080" cy="777240"/>
          </a:xfrm>
          <a:prstGeom prst="roundRect">
            <a:avLst/>
          </a:prstGeom>
          <a:solidFill>
            <a:srgbClr val="DA1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Status: DITERIMA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diwakili PIC / yang ditugaskan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2157984" y="4389120"/>
            <a:ext cx="256032" cy="365760"/>
          </a:xfrm>
          <a:prstGeom prst="downArrow">
            <a:avLst/>
          </a:prstGeom>
          <a:solidFill>
            <a:srgbClr val="6C75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0" y="4754880"/>
            <a:ext cx="2926080" cy="777240"/>
          </a:xfrm>
          <a:prstGeom prst="roundRect">
            <a:avLst/>
          </a:prstGeom>
          <a:solidFill>
            <a:srgbClr val="DA1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Avsec: Pengembalian PAS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foto + TTD pengembalian, tanggal &amp; jam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2157984" y="5532120"/>
            <a:ext cx="256032" cy="365760"/>
          </a:xfrm>
          <a:prstGeom prst="downArrow">
            <a:avLst/>
          </a:prstGeom>
          <a:solidFill>
            <a:srgbClr val="6C75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2960" y="5897880"/>
            <a:ext cx="2926080" cy="640080"/>
          </a:xfrm>
          <a:prstGeom prst="roundRect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Status: DIKEMBALIKAN / SELESAI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1371600"/>
            <a:ext cx="7223760" cy="4937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61616"/>
                </a:solidFill>
                <a:latin typeface="Calibri"/>
              </a:rPr>
              <a:t>Penyerahan (oleh Avsec):</a:t>
            </a:r>
          </a:p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61616"/>
                </a:solidFill>
                <a:latin typeface="Calibri"/>
              </a:rPr>
              <a:t>• Verifikasi identitas penerima (PIC atau yang ditugaskan)</a:t>
            </a:r>
          </a:p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61616"/>
                </a:solidFill>
                <a:latin typeface="Calibri"/>
              </a:rPr>
              <a:t>• Input nomor PAS Visitor per pendamping (oleh AOCH)</a:t>
            </a:r>
          </a:p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61616"/>
                </a:solidFill>
                <a:latin typeface="Calibri"/>
              </a:rPr>
              <a:t>• Dokumentasikan: foto orang + tanda tangan elektronik</a:t>
            </a:r>
          </a:p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61616"/>
                </a:solidFill>
                <a:latin typeface="Calibri"/>
              </a:rPr>
              <a:t>• Catat tanggal &amp; jam penyerahan → status DITERIMA</a:t>
            </a:r>
          </a:p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161616"/>
                </a:solidFill>
                <a:latin typeface="Calibri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61616"/>
                </a:solidFill>
                <a:latin typeface="Calibri"/>
              </a:rPr>
              <a:t>Pengembalian (oleh Avsec):</a:t>
            </a:r>
          </a:p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61616"/>
                </a:solidFill>
                <a:latin typeface="Calibri"/>
              </a:rPr>
              <a:t>• PAS Visitor berlaku 1 (satu) hari</a:t>
            </a:r>
          </a:p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61616"/>
                </a:solidFill>
                <a:latin typeface="Calibri"/>
              </a:rPr>
              <a:t>• Catat foto + TTD pengembalian, tanggal &amp; jam</a:t>
            </a:r>
          </a:p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61616"/>
                </a:solidFill>
                <a:latin typeface="Calibri"/>
              </a:rPr>
              <a:t>• Status → DIKEMBALIKAN, pengajuan SELESAI</a:t>
            </a:r>
          </a:p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161616"/>
                </a:solidFill>
                <a:latin typeface="Calibri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100" b="0" i="1">
                <a:solidFill>
                  <a:srgbClr val="525252"/>
                </a:solidFill>
                <a:latin typeface="Calibri"/>
              </a:rPr>
              <a:t>• Cukup diwakilkan oleh PIC pemohon atau yang ditugaskan.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1">
                <a:solidFill>
                  <a:srgbClr val="525252"/>
                </a:solidFill>
                <a:latin typeface="Calibri"/>
              </a:rPr>
              <a:t>Alur Proses Bisnis PAS Bandara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25252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525252"/>
                </a:solidFill>
                <a:latin typeface="Calibri"/>
              </a:rPr>
              <a:t>PENUNJANG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155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161616"/>
                </a:solidFill>
                <a:latin typeface="Calibri"/>
              </a:rPr>
              <a:t>Notifikasi Masa Berlaku &amp; Verifikasi Avsec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11201400" cy="18288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371600"/>
            <a:ext cx="5394960" cy="822960"/>
          </a:xfrm>
          <a:prstGeom prst="roundRect">
            <a:avLst/>
          </a:prstGeom>
          <a:solidFill>
            <a:srgbClr val="6C75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Notifikasi Masa Berlaku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tampil di Komersil, Operasi &amp; AOCH</a:t>
            </a:r>
          </a:p>
        </p:txBody>
      </p:sp>
      <p:sp>
        <p:nvSpPr>
          <p:cNvPr id="7" name="Down Arrow 6"/>
          <p:cNvSpPr/>
          <p:nvPr/>
        </p:nvSpPr>
        <p:spPr>
          <a:xfrm>
            <a:off x="3392424" y="2194560"/>
            <a:ext cx="256032" cy="365760"/>
          </a:xfrm>
          <a:prstGeom prst="downArrow">
            <a:avLst/>
          </a:prstGeom>
          <a:solidFill>
            <a:srgbClr val="6C75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2560320"/>
            <a:ext cx="5394960" cy="822960"/>
          </a:xfrm>
          <a:prstGeom prst="roundRect">
            <a:avLst/>
          </a:prstGeom>
          <a:solidFill>
            <a:srgbClr val="6C75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Status Visitor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AKTIF / KEDALUWARSA / TERJADWAL / BELUM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1371600"/>
            <a:ext cx="4937760" cy="4754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61616"/>
                </a:solidFill>
                <a:latin typeface="Calibri"/>
              </a:rPr>
              <a:t>Verifikasi oleh Avsec:</a:t>
            </a:r>
          </a:p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61616"/>
                </a:solidFill>
                <a:latin typeface="Calibri"/>
              </a:rPr>
              <a:t>• Buka menu Verifikasi di dashboard awal</a:t>
            </a:r>
          </a:p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61616"/>
                </a:solidFill>
                <a:latin typeface="Calibri"/>
              </a:rPr>
              <a:t>• Masukkan nomor request ATAU nomor PAS Visitor</a:t>
            </a:r>
          </a:p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61616"/>
                </a:solidFill>
                <a:latin typeface="Calibri"/>
              </a:rPr>
              <a:t>• Lihat status PAS: Aktif atau Kedaluwarsa</a:t>
            </a:r>
          </a:p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161616"/>
                </a:solidFill>
                <a:latin typeface="Calibri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61616"/>
                </a:solidFill>
                <a:latin typeface="Calibri"/>
              </a:rPr>
              <a:t>Tujuan:</a:t>
            </a:r>
          </a:p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61616"/>
                </a:solidFill>
                <a:latin typeface="Calibri"/>
              </a:rPr>
              <a:t>• PAS Visitor berlaku 1 hari — cegah penyalahgunaan</a:t>
            </a:r>
          </a:p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61616"/>
                </a:solidFill>
                <a:latin typeface="Calibri"/>
              </a:rPr>
              <a:t>• PAS yang belum dikembalikan &amp; sudah expired tidak bisa dipakai besok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1">
                <a:solidFill>
                  <a:srgbClr val="525252"/>
                </a:solidFill>
                <a:latin typeface="Calibri"/>
              </a:rPr>
              <a:t>Alur Proses Bisnis PAS Bandara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25252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Alur Status Inti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43200"/>
            <a:ext cx="10515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C6C6C6"/>
                </a:solidFill>
                <a:latin typeface="Calibri"/>
              </a:rPr>
              <a:t>DRAFT → DIAJUKAN → MENUNGGU PEMBAYARAN → BUKTI TERUNGGAH → DIBAYAR</a:t>
            </a:r>
          </a:p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C6C6C6"/>
                </a:solidFill>
                <a:latin typeface="Calibri"/>
              </a:rPr>
              <a:t>→ MENUNGGU OPERASI → PAS TERBIT</a:t>
            </a:r>
          </a:p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C6C6C6"/>
                </a:solidFill>
                <a:latin typeface="Calibri"/>
              </a:rPr>
              <a:t>→ DITERIMA (serah terima) → DIKEMBALIKAN → SELESAI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743200"/>
            <a:ext cx="2377440" cy="54864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493776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1">
                <a:solidFill>
                  <a:srgbClr val="C6C6C6"/>
                </a:solidFill>
                <a:latin typeface="Calibri"/>
              </a:rPr>
              <a:t>Cabang: REVISI PEMOHON (perbaikan dokumen)  •  DITOLAK OPERASI (blacklist)  •  DIBATALKAN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